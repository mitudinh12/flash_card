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4" r:id="rId2"/>
    <p:sldId id="257" r:id="rId3"/>
    <p:sldId id="256" r:id="rId4"/>
    <p:sldId id="259" r:id="rId5"/>
    <p:sldId id="260" r:id="rId6"/>
    <p:sldId id="261" r:id="rId7"/>
    <p:sldId id="262" r:id="rId8"/>
    <p:sldId id="263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F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7"/>
    <p:restoredTop sz="94694"/>
  </p:normalViewPr>
  <p:slideViewPr>
    <p:cSldViewPr snapToGrid="0">
      <p:cViewPr varScale="1">
        <p:scale>
          <a:sx n="150" d="100"/>
          <a:sy n="150" d="100"/>
        </p:scale>
        <p:origin x="6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4B39D-E1A7-E949-9DDE-352003C2C446}" type="datetimeFigureOut">
              <a:rPr lang="en-FI" smtClean="0"/>
              <a:t>01/29/2025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58B22-A0BF-3649-8747-D5C724EB8C4C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6865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58B22-A0BF-3649-8747-D5C724EB8C4C}" type="slidenum">
              <a:rPr lang="en-FI" smtClean="0"/>
              <a:t>7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23700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531C-9402-1A11-221D-475795F3F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406A-E1F6-EB37-124D-B760C705C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E6F97-DF8F-9E9C-7FE6-9C9A2B063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48647-7A80-3615-9789-CA3CED03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32360-B9F2-F639-8026-E00FDC0A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6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8B307-FCF9-C56D-2121-88D4301F7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47E0-62C8-1DC1-53D4-F80AFA5C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15385C-4CB5-F81B-8AEC-C6F27EF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7E3F8-BE9C-3674-0021-F07087FF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26550-A9DE-5BAB-F1B9-BE6195A6F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287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90C5A-2EF9-822F-5D2E-CA1457124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9A654-03B2-08D5-9704-C276C18E9F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8FD00-DDB2-707B-5E22-CBA3ABF4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CF473-055A-84EE-CEA4-DDD5E8C88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37DE0-D7BD-A7A9-FABC-F88C79FEB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11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591B1-2AD4-D1FC-2C88-84F65F15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17637-E7C3-2086-BAAC-8FCCC6E37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D3F8D7-F52B-2F80-2727-D307FE47B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75DB2F-5C6E-5C04-BD4E-79224763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12E6B-B397-3323-28C1-AD55F9E3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088AAE-16C6-7459-8DCB-FFB86E69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7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6E7D-2979-ED6C-755B-863C785FE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15B10-A8CA-0515-AA6B-882F19D00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99C20-85D2-7602-9C37-8B7E38991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29294-2596-5AA9-ABDD-48D647984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5AC01-35EE-79C7-7460-499376E302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DAF3F-0556-E671-E63D-D9FCB9F3E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A1D8C8-120B-A602-7738-C3E43E78C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153697-3A41-51A5-F7BC-FF40E5AD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00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B53C-44D3-245C-CF4C-52DFCFF1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D779F1-6B4E-36D6-4D31-0391DEF3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987DB-DC8E-CD2B-87A3-AD29EAE99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50E0A0-A42A-EDE9-A6F9-C1F9CB7A7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AA7EA-11D5-1AFD-0B9A-6C0C3747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94D79-8747-FE0C-13D5-E8EEDD74E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3DEB3-A1F3-9C81-BC98-FED03CEE2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57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CC95-4C5B-7052-3AA3-035C6C13C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5B6FB-C4A9-4F90-9D8E-82CD9F92A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C60D9-5B99-3415-D460-ADF4B298BB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A2C42-EE57-FBDD-C3E2-D725EA816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49127-71E3-498C-D6A4-55FC4FB5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477DB-A771-23F6-A5B2-2F227CDC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3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F082-973B-BD1D-26EA-D1EB3953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A6BE3A-E11D-0B14-D4CE-08787CB7F9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A7426-6AD0-393D-7F43-D1A3F4DEA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CBC7F-2C59-C383-7611-363B2CE25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2FFD8-F01C-7980-CE01-43692DEE2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839CB-EDF5-E97E-C60C-0D506BC66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90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244A-D48A-7132-941B-04B9D5DCD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8E90BF-0AAC-3D64-ADDB-000FCC165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122A4-762B-AF3B-2637-187F6977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E3E5-A1DF-0BFE-7177-EA08B4A1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A7CCF-1BE8-EF91-BF61-DFD5964E5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16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CF329-817F-E8AE-8727-4071159A20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48E5F-E9AE-988C-0534-2F3DEB729D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594CD-927A-DAB0-9C9F-5C50BF31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1B793-44A0-A795-CA37-3458D0D7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06F5-ED0D-DA05-08A5-2FDC8604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10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21EBD2-0A84-906B-5617-27C9C2E5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91DB7-C1DA-1517-7A29-90D943796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C254E-B00D-6EDF-BE37-5B1C11CBB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E2F13B-D218-4B2C-9EC2-1CC23AE57812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81259-E6F1-82CD-0ED8-30A827712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DA4B8-684A-B128-1C48-25283F5B30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99FCB-B4B9-42F9-9F0A-221CAE09E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78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rdplus.com/edit-diagram/7452ec60-56d3-40fb-af2c-0c4644346b4e" TargetMode="External"/><Relationship Id="rId2" Type="http://schemas.openxmlformats.org/officeDocument/2006/relationships/hyperlink" Target="https://erdplus.com/edit-diagram/d569d7bf-b3fb-4a9b-b7c1-b7fd10ac07ef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rdplus.com/edit-diagram/7452ec60-56d3-40fb-af2c-0c4644346b4e" TargetMode="External"/><Relationship Id="rId2" Type="http://schemas.openxmlformats.org/officeDocument/2006/relationships/hyperlink" Target="https://erdplus.com/edit-diagram/d569d7bf-b3fb-4a9b-b7c1-b7fd10ac07ef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rdplus.com/edit-diagram/7452ec60-56d3-40fb-af2c-0c4644346b4e" TargetMode="External"/><Relationship Id="rId2" Type="http://schemas.openxmlformats.org/officeDocument/2006/relationships/hyperlink" Target="https://erdplus.com/edit-diagram/d569d7bf-b3fb-4a9b-b7c1-b7fd10ac07ef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77A87-46E7-D652-2A09-1D0107861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B889C7-6795-5C8C-CC18-88CE67A3427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F5482B-4FDD-768A-0156-C46FCF62B83A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86EAF3-E0EA-1C86-FFE6-38BBFCDCB1E7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B0D13-0908-A71F-94D9-B0F7F646F46A}"/>
              </a:ext>
            </a:extLst>
          </p:cNvPr>
          <p:cNvSpPr txBox="1"/>
          <p:nvPr/>
        </p:nvSpPr>
        <p:spPr>
          <a:xfrm>
            <a:off x="0" y="62059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A4F94-3BC5-DC58-3C27-719362D36E7C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2284CD-AD46-BD0D-CD3F-61F711390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3" y="1347518"/>
            <a:ext cx="8296755" cy="53527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1F78577-772E-4107-A977-6BEE42C889CB}"/>
              </a:ext>
            </a:extLst>
          </p:cNvPr>
          <p:cNvSpPr txBox="1"/>
          <p:nvPr/>
        </p:nvSpPr>
        <p:spPr>
          <a:xfrm>
            <a:off x="8878529" y="2657294"/>
            <a:ext cx="257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Group 1: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85E24-76B3-3696-92B4-802C8D5BD03F}"/>
              </a:ext>
            </a:extLst>
          </p:cNvPr>
          <p:cNvSpPr txBox="1"/>
          <p:nvPr/>
        </p:nvSpPr>
        <p:spPr>
          <a:xfrm>
            <a:off x="9842091" y="3026626"/>
            <a:ext cx="16124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Nhi Dinh</a:t>
            </a:r>
          </a:p>
          <a:p>
            <a:r>
              <a:rPr lang="en-US" dirty="0"/>
              <a:t>Tu Dinh</a:t>
            </a:r>
          </a:p>
          <a:p>
            <a:r>
              <a:rPr lang="en-US" dirty="0"/>
              <a:t>Kim Tran</a:t>
            </a:r>
          </a:p>
        </p:txBody>
      </p:sp>
    </p:spTree>
    <p:extLst>
      <p:ext uri="{BB962C8B-B14F-4D97-AF65-F5344CB8AC3E}">
        <p14:creationId xmlns:p14="http://schemas.microsoft.com/office/powerpoint/2010/main" val="414706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07D0C-640B-467A-CBE6-28C8CA9D7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BA918C-F522-0309-01EB-12DB96D1E9F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F1F360-EB20-5DF7-DBA4-4A62A09AFAD6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C3084A-75A3-3E52-C06E-F7AB89430A8A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0557CA-71EF-CB9C-5B5F-1A79629EE790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1F47F2-6D89-C489-2EA7-9F1F7E37132C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B61F09-7744-CFC8-1F36-0DC886042C7E}"/>
              </a:ext>
            </a:extLst>
          </p:cNvPr>
          <p:cNvSpPr txBox="1"/>
          <p:nvPr/>
        </p:nvSpPr>
        <p:spPr>
          <a:xfrm>
            <a:off x="481781" y="1396181"/>
            <a:ext cx="235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Target Users: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674EB6-DE1D-B8D3-A4F7-F90C9CC062E0}"/>
              </a:ext>
            </a:extLst>
          </p:cNvPr>
          <p:cNvSpPr txBox="1"/>
          <p:nvPr/>
        </p:nvSpPr>
        <p:spPr>
          <a:xfrm>
            <a:off x="816078" y="1986116"/>
            <a:ext cx="48473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Students (10-35 years old)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Preferences: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Engaging, gamified, and customizable learning tools.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Collaboration features for group study.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Flexibility across devices (mobile, tablet, desktop).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Tools for improved memory retention (spaced repetition).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Efficient time management and progress tracking.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Intuitive and easy-to-use interfaces.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D88E0-9FC1-4160-5A7D-D5D877D35816}"/>
              </a:ext>
            </a:extLst>
          </p:cNvPr>
          <p:cNvSpPr txBox="1"/>
          <p:nvPr/>
        </p:nvSpPr>
        <p:spPr>
          <a:xfrm>
            <a:off x="7089058" y="1986116"/>
            <a:ext cx="44736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Teachers (25-60 years old)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Preferences: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Time-saving tools for organizing and sharing flashcards.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Collaborative features to engage with students and peers.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Scalability for managing multiple 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Needs: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Progress monitoring to assess student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Seamless classroom integration for assigning materials efficiently.</a:t>
            </a:r>
          </a:p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3EED5B-0217-F73A-9DCA-9F67C8CD2F88}"/>
              </a:ext>
            </a:extLst>
          </p:cNvPr>
          <p:cNvCxnSpPr/>
          <p:nvPr/>
        </p:nvCxnSpPr>
        <p:spPr>
          <a:xfrm>
            <a:off x="6194323" y="2074606"/>
            <a:ext cx="0" cy="3687097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061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9B8716-D402-FFC3-46DB-3F9B54E3937A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7BB020-1789-8175-47B7-F8685F5C72CF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88E37-68AF-54E4-939A-D9BE6C8A7625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E9C5F5-59F2-A2BF-FB40-82AB5D82C953}"/>
              </a:ext>
            </a:extLst>
          </p:cNvPr>
          <p:cNvSpPr txBox="1"/>
          <p:nvPr/>
        </p:nvSpPr>
        <p:spPr>
          <a:xfrm>
            <a:off x="0" y="62059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02A016-B49A-8D3B-4878-C9A56392335F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6DC4AD-E966-F69E-75D5-A3901952D25A}"/>
              </a:ext>
            </a:extLst>
          </p:cNvPr>
          <p:cNvSpPr txBox="1"/>
          <p:nvPr/>
        </p:nvSpPr>
        <p:spPr>
          <a:xfrm>
            <a:off x="471950" y="1318136"/>
            <a:ext cx="2300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 features: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7F80A1-2449-2DE8-D24D-801C1AD156DF}"/>
              </a:ext>
            </a:extLst>
          </p:cNvPr>
          <p:cNvSpPr txBox="1"/>
          <p:nvPr/>
        </p:nvSpPr>
        <p:spPr>
          <a:xfrm>
            <a:off x="1317522" y="1964467"/>
            <a:ext cx="9704439" cy="481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Management</a:t>
            </a:r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Secure authentication system.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Flashcard Creation and Organization</a:t>
            </a:r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Tools to create, edit, delete, and organize flashcards into sets for efficient study.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Teacher-Specific Features</a:t>
            </a:r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Options for teachers to upload and assign flashcard sets for classes.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Study and Quiz Modes</a:t>
            </a:r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Interactive flashcard review and quiz functionality with shuffle options.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Progress Tracking and Analytics</a:t>
            </a:r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Insights into study performance, including accuracy rates and completion statistics.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User-Friendly Interface:</a:t>
            </a:r>
            <a:r>
              <a:rPr lang="en-US" sz="18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 simple, easy-to-use, and effective JavaFX dashboard designed to provide intuitive navigation and accessibility, ensuring users can quickly access and manage their flashcards and study materials without unnecessary complexity.</a:t>
            </a: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dirty="0">
              <a:latin typeface="Arial" panose="020B0604020202020204" pitchFamily="34" charset="0"/>
            </a:endParaRP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020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2C791-A127-7553-8AA4-B061F4840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BCFFB0E-9F04-C22F-A6C2-B81F6597839C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50783-F178-4F7C-E0D4-4FBE377CC0FE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F96BC-56EC-0877-0349-1996F67B7F67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1CD698-EED0-6313-CCB8-D9CC0B2385A1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123D70-1BFC-E46B-E5CB-6BDAD0729997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AE298E-77DA-D65D-9850-1D08D906F845}"/>
              </a:ext>
            </a:extLst>
          </p:cNvPr>
          <p:cNvSpPr txBox="1"/>
          <p:nvPr/>
        </p:nvSpPr>
        <p:spPr>
          <a:xfrm>
            <a:off x="737419" y="1661652"/>
            <a:ext cx="2959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Sprint 1 Backlog: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0945AC-5B00-5FFB-66AD-4BBB8A8A7B2C}"/>
              </a:ext>
            </a:extLst>
          </p:cNvPr>
          <p:cNvSpPr txBox="1"/>
          <p:nvPr/>
        </p:nvSpPr>
        <p:spPr>
          <a:xfrm>
            <a:off x="1681315" y="2300748"/>
            <a:ext cx="8091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Define project requirements and create the product backlog – Nhi Dinh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A60F7-E246-8C0A-F7C5-214534130624}"/>
              </a:ext>
            </a:extLst>
          </p:cNvPr>
          <p:cNvSpPr txBox="1"/>
          <p:nvPr/>
        </p:nvSpPr>
        <p:spPr>
          <a:xfrm>
            <a:off x="1681313" y="2836295"/>
            <a:ext cx="627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 UI mockups using Figma – Kim Tran and Tu Dinh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2540DA-54E6-277A-E415-2D1885C01E9F}"/>
              </a:ext>
            </a:extLst>
          </p:cNvPr>
          <p:cNvSpPr txBox="1"/>
          <p:nvPr/>
        </p:nvSpPr>
        <p:spPr>
          <a:xfrm>
            <a:off x="1681313" y="3363872"/>
            <a:ext cx="6882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Design ER Diagram and the Database Schema – Nhi Dinh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F481F9-0233-F7F6-790B-CCE6D030C15E}"/>
              </a:ext>
            </a:extLst>
          </p:cNvPr>
          <p:cNvSpPr txBox="1"/>
          <p:nvPr/>
        </p:nvSpPr>
        <p:spPr>
          <a:xfrm>
            <a:off x="1681313" y="3937275"/>
            <a:ext cx="6272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up project environments – Nhi Dinh and Kim Tran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E13CFA-2234-11B5-EF2A-4045A32FDCC6}"/>
              </a:ext>
            </a:extLst>
          </p:cNvPr>
          <p:cNvSpPr txBox="1"/>
          <p:nvPr/>
        </p:nvSpPr>
        <p:spPr>
          <a:xfrm>
            <a:off x="737419" y="4510678"/>
            <a:ext cx="257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Total working hours: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554897-015E-9288-C0F0-844C3F27D66C}"/>
              </a:ext>
            </a:extLst>
          </p:cNvPr>
          <p:cNvSpPr txBox="1"/>
          <p:nvPr/>
        </p:nvSpPr>
        <p:spPr>
          <a:xfrm>
            <a:off x="1681313" y="5011682"/>
            <a:ext cx="336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Nhi Dinh: 35 hours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CBE20-7B98-C95B-A282-3BDD2EE67038}"/>
              </a:ext>
            </a:extLst>
          </p:cNvPr>
          <p:cNvSpPr txBox="1"/>
          <p:nvPr/>
        </p:nvSpPr>
        <p:spPr>
          <a:xfrm>
            <a:off x="1681313" y="5499673"/>
            <a:ext cx="336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 Dinh: 25 hours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FD02F-6066-C39F-2EBE-7E7DE9008976}"/>
              </a:ext>
            </a:extLst>
          </p:cNvPr>
          <p:cNvSpPr txBox="1"/>
          <p:nvPr/>
        </p:nvSpPr>
        <p:spPr>
          <a:xfrm>
            <a:off x="1681313" y="6028232"/>
            <a:ext cx="3362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Kim Tran: 27 hours</a:t>
            </a:r>
          </a:p>
        </p:txBody>
      </p:sp>
    </p:spTree>
    <p:extLst>
      <p:ext uri="{BB962C8B-B14F-4D97-AF65-F5344CB8AC3E}">
        <p14:creationId xmlns:p14="http://schemas.microsoft.com/office/powerpoint/2010/main" val="1177753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D310-C67A-3822-FB03-C29FBDB99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22054A-F23D-3EF9-A25C-62679D6A10FC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51058A-D04E-979D-397D-FB05C48A4DC4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0BF247-DF00-9272-A03F-8C29DE7FC3B7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7F27D8-11EA-2CAC-B863-63A576D266C9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CD2DA5-2B8F-2677-EF63-F76B630AB15B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19D11F-FF4C-D1BE-95CA-83F38C46DEE3}"/>
              </a:ext>
            </a:extLst>
          </p:cNvPr>
          <p:cNvSpPr txBox="1"/>
          <p:nvPr/>
        </p:nvSpPr>
        <p:spPr>
          <a:xfrm>
            <a:off x="275302" y="1383389"/>
            <a:ext cx="80329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Design ER Diagram and the Database Schema – Nhi Dinh</a:t>
            </a:r>
          </a:p>
        </p:txBody>
      </p:sp>
      <p:sp>
        <p:nvSpPr>
          <p:cNvPr id="4" name="TextBox 3">
            <a:hlinkClick r:id="rId2"/>
            <a:extLst>
              <a:ext uri="{FF2B5EF4-FFF2-40B4-BE49-F238E27FC236}">
                <a16:creationId xmlns:a16="http://schemas.microsoft.com/office/drawing/2014/main" id="{332BE003-2785-24F3-4CD3-50852B3AA232}"/>
              </a:ext>
            </a:extLst>
          </p:cNvPr>
          <p:cNvSpPr txBox="1"/>
          <p:nvPr/>
        </p:nvSpPr>
        <p:spPr>
          <a:xfrm>
            <a:off x="1327354" y="2142287"/>
            <a:ext cx="3598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ER diagram</a:t>
            </a:r>
          </a:p>
        </p:txBody>
      </p:sp>
      <p:sp>
        <p:nvSpPr>
          <p:cNvPr id="7" name="TextBox 6">
            <a:hlinkClick r:id="rId3"/>
            <a:extLst>
              <a:ext uri="{FF2B5EF4-FFF2-40B4-BE49-F238E27FC236}">
                <a16:creationId xmlns:a16="http://schemas.microsoft.com/office/drawing/2014/main" id="{0B66F7F5-D8AB-293F-EE28-18B0DCBF8C54}"/>
              </a:ext>
            </a:extLst>
          </p:cNvPr>
          <p:cNvSpPr txBox="1"/>
          <p:nvPr/>
        </p:nvSpPr>
        <p:spPr>
          <a:xfrm>
            <a:off x="1327354" y="3434919"/>
            <a:ext cx="4630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Database Schema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476213-64EB-08AD-133A-3A361028E0D2}"/>
              </a:ext>
            </a:extLst>
          </p:cNvPr>
          <p:cNvSpPr txBox="1"/>
          <p:nvPr/>
        </p:nvSpPr>
        <p:spPr>
          <a:xfrm>
            <a:off x="1327354" y="2803206"/>
            <a:ext cx="559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Check and refine the diagram many times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4FAC9-883F-2B86-A64B-86D4BFC043B9}"/>
              </a:ext>
            </a:extLst>
          </p:cNvPr>
          <p:cNvSpPr txBox="1"/>
          <p:nvPr/>
        </p:nvSpPr>
        <p:spPr>
          <a:xfrm>
            <a:off x="1327354" y="4066632"/>
            <a:ext cx="79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Sampling data to check if it meets the requirement of the 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9AF088-4EBA-2113-6FA7-331C32054645}"/>
              </a:ext>
            </a:extLst>
          </p:cNvPr>
          <p:cNvSpPr txBox="1"/>
          <p:nvPr/>
        </p:nvSpPr>
        <p:spPr>
          <a:xfrm>
            <a:off x="1327354" y="4727551"/>
            <a:ext cx="79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the database script to test with real queries using MariaDb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DB5C1-7ECA-922E-4EBD-C8E090529EC8}"/>
              </a:ext>
            </a:extLst>
          </p:cNvPr>
          <p:cNvSpPr txBox="1"/>
          <p:nvPr/>
        </p:nvSpPr>
        <p:spPr>
          <a:xfrm>
            <a:off x="1327354" y="5330058"/>
            <a:ext cx="79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Modify the data script to improve the query efficiency </a:t>
            </a:r>
          </a:p>
        </p:txBody>
      </p:sp>
    </p:spTree>
    <p:extLst>
      <p:ext uri="{BB962C8B-B14F-4D97-AF65-F5344CB8AC3E}">
        <p14:creationId xmlns:p14="http://schemas.microsoft.com/office/powerpoint/2010/main" val="4244334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610A-EE5D-01A9-20A8-F8D5D025E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A217299-A6BE-8403-0D3B-C992DCD16561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EFFBC-F698-BBCE-A4BA-FDA597379412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CD7641-763E-D443-2A08-91E13E765D1F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5B805-FF82-B553-45ED-E9F252A43127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F0255C-9F3D-ADDF-1A22-63D519AA49BF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4734B-EA5D-AE30-2EFA-C0451EA34A2B}"/>
              </a:ext>
            </a:extLst>
          </p:cNvPr>
          <p:cNvSpPr txBox="1"/>
          <p:nvPr/>
        </p:nvSpPr>
        <p:spPr>
          <a:xfrm>
            <a:off x="-530352" y="1475264"/>
            <a:ext cx="8927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Design UI mockups using OneNote &amp; Figma – Kim Tran and Tu Dinh</a:t>
            </a:r>
          </a:p>
        </p:txBody>
      </p:sp>
      <p:sp>
        <p:nvSpPr>
          <p:cNvPr id="2" name="TextBox 1">
            <a:hlinkClick r:id="rId2"/>
            <a:extLst>
              <a:ext uri="{FF2B5EF4-FFF2-40B4-BE49-F238E27FC236}">
                <a16:creationId xmlns:a16="http://schemas.microsoft.com/office/drawing/2014/main" id="{959470F3-BD75-9B68-86AC-C960CA40D27B}"/>
              </a:ext>
            </a:extLst>
          </p:cNvPr>
          <p:cNvSpPr txBox="1"/>
          <p:nvPr/>
        </p:nvSpPr>
        <p:spPr>
          <a:xfrm>
            <a:off x="1327354" y="2142287"/>
            <a:ext cx="965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key features and user journeys based on product backlogs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B4342E-1075-17AF-5799-880801BF13CF}"/>
              </a:ext>
            </a:extLst>
          </p:cNvPr>
          <p:cNvSpPr txBox="1"/>
          <p:nvPr/>
        </p:nvSpPr>
        <p:spPr>
          <a:xfrm>
            <a:off x="1327354" y="2803206"/>
            <a:ext cx="971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Draw up wireframe to outline the basic structure of the app (OneNote)</a:t>
            </a:r>
          </a:p>
        </p:txBody>
      </p:sp>
      <p:sp>
        <p:nvSpPr>
          <p:cNvPr id="5" name="TextBox 4">
            <a:hlinkClick r:id="rId3"/>
            <a:extLst>
              <a:ext uri="{FF2B5EF4-FFF2-40B4-BE49-F238E27FC236}">
                <a16:creationId xmlns:a16="http://schemas.microsoft.com/office/drawing/2014/main" id="{CD0614D4-C420-6CA9-515B-9FB5052E6797}"/>
              </a:ext>
            </a:extLst>
          </p:cNvPr>
          <p:cNvSpPr txBox="1"/>
          <p:nvPr/>
        </p:nvSpPr>
        <p:spPr>
          <a:xfrm>
            <a:off x="1327354" y="3434919"/>
            <a:ext cx="9069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Share the wireframe with team members and collect feedbacks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1B5B61-4455-25CB-D2E0-EDC44566FC3C}"/>
              </a:ext>
            </a:extLst>
          </p:cNvPr>
          <p:cNvSpPr txBox="1"/>
          <p:nvPr/>
        </p:nvSpPr>
        <p:spPr>
          <a:xfrm>
            <a:off x="1327354" y="4066632"/>
            <a:ext cx="79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 wireframe to high-fidelity design (Figma)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669C05-A983-6684-DD0D-660FB7854CCE}"/>
              </a:ext>
            </a:extLst>
          </p:cNvPr>
          <p:cNvSpPr txBox="1"/>
          <p:nvPr/>
        </p:nvSpPr>
        <p:spPr>
          <a:xfrm>
            <a:off x="1327354" y="4727551"/>
            <a:ext cx="79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Refine the design based on the team’s feedbacks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22F80-93C4-386A-AB61-A236C602A9A0}"/>
              </a:ext>
            </a:extLst>
          </p:cNvPr>
          <p:cNvSpPr txBox="1"/>
          <p:nvPr/>
        </p:nvSpPr>
        <p:spPr>
          <a:xfrm>
            <a:off x="1327354" y="5330058"/>
            <a:ext cx="9069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Upload visual elements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repository (icons, background images,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97765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AA083-BDF6-E5E4-DC01-46B6CBF99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3BA469-5E62-2BD2-436D-7B3D498FB05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6FDFE5-FCEA-7915-5080-29F820824FB7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D887ED-56EC-179B-44BF-BF4E3CE8B9B0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294068-06C9-0985-257E-060DDDE796D0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8FBF4D-6F26-E082-73F7-3C9B6F0F94EA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FE53B-A525-E0CD-81EE-E01385603028}"/>
              </a:ext>
            </a:extLst>
          </p:cNvPr>
          <p:cNvSpPr txBox="1"/>
          <p:nvPr/>
        </p:nvSpPr>
        <p:spPr>
          <a:xfrm>
            <a:off x="0" y="146810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Using Ai in Sprint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16118-0474-CE8F-A4CE-F2A0966DB124}"/>
              </a:ext>
            </a:extLst>
          </p:cNvPr>
          <p:cNvSpPr txBox="1"/>
          <p:nvPr/>
        </p:nvSpPr>
        <p:spPr>
          <a:xfrm>
            <a:off x="1297856" y="2477033"/>
            <a:ext cx="238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Tool:</a:t>
            </a:r>
            <a:r>
              <a:rPr lang="en-US" dirty="0"/>
              <a:t> ChatGPT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09528-048C-978E-846E-AF792AD7ACD4}"/>
              </a:ext>
            </a:extLst>
          </p:cNvPr>
          <p:cNvSpPr txBox="1"/>
          <p:nvPr/>
        </p:nvSpPr>
        <p:spPr>
          <a:xfrm>
            <a:off x="1297856" y="3102668"/>
            <a:ext cx="1229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Usage: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3B6BEA-03A1-BDF4-F929-1076FB2EE6A1}"/>
              </a:ext>
            </a:extLst>
          </p:cNvPr>
          <p:cNvSpPr txBox="1"/>
          <p:nvPr/>
        </p:nvSpPr>
        <p:spPr>
          <a:xfrm>
            <a:off x="1814050" y="3728303"/>
            <a:ext cx="88588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Requirement Refinement: reviewed user stories and organized them into a clear, structured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Script Enhancement: reviewed database script and provided suggestions for better optimization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177882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BB24F-86AA-7AAC-94C2-B2E8AE64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1BE4E3-338A-7893-8C52-19AAF65F770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FF60D8-A98E-E25E-3544-DB6F2E78C5F6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395CF-434D-A6E2-EA6B-B43A6D803FB2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0440B2-F012-76E0-9CF5-40F786301FD3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572BF3-1354-21C4-8665-CED4F03A49FA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7196E7-A2C7-1ABC-5D03-06CB11269AA4}"/>
              </a:ext>
            </a:extLst>
          </p:cNvPr>
          <p:cNvSpPr txBox="1"/>
          <p:nvPr/>
        </p:nvSpPr>
        <p:spPr>
          <a:xfrm>
            <a:off x="-1" y="1484671"/>
            <a:ext cx="1219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Challenges and Solutions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E6F28-5F03-74BE-2DDF-039638BC73EE}"/>
              </a:ext>
            </a:extLst>
          </p:cNvPr>
          <p:cNvSpPr txBox="1"/>
          <p:nvPr/>
        </p:nvSpPr>
        <p:spPr>
          <a:xfrm>
            <a:off x="884903" y="2131002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Challenges We Faced: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3EFD93-EF79-939F-E2FE-ADA962B638D8}"/>
              </a:ext>
            </a:extLst>
          </p:cNvPr>
          <p:cNvSpPr txBox="1"/>
          <p:nvPr/>
        </p:nvSpPr>
        <p:spPr>
          <a:xfrm>
            <a:off x="963562" y="2792886"/>
            <a:ext cx="8504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Defining clear priorities for the backlog and each sprint backlog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Ensuring consistency in UI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84F567-A6E2-1B5D-B78A-6A8A601FC751}"/>
              </a:ext>
            </a:extLst>
          </p:cNvPr>
          <p:cNvSpPr txBox="1"/>
          <p:nvPr/>
        </p:nvSpPr>
        <p:spPr>
          <a:xfrm>
            <a:off x="884903" y="3940503"/>
            <a:ext cx="284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How We Solved Them: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549398-581D-0E1B-29DB-603E0F8765C2}"/>
              </a:ext>
            </a:extLst>
          </p:cNvPr>
          <p:cNvSpPr txBox="1"/>
          <p:nvPr/>
        </p:nvSpPr>
        <p:spPr>
          <a:xfrm>
            <a:off x="963562" y="4556220"/>
            <a:ext cx="10304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Conducted regular team discussions to align priorities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Iteratively reviewed mockups for feedback.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935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99157-CE66-B329-8D4A-C17260B4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98A095A-EE1F-D974-25EB-983756D5CFCC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B5F1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6765F0-F30C-53CB-AD71-BF8F693D0282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4853A0-E656-9080-9C05-A7AD4D4B275B}"/>
              </a:ext>
            </a:extLst>
          </p:cNvPr>
          <p:cNvSpPr txBox="1"/>
          <p:nvPr/>
        </p:nvSpPr>
        <p:spPr>
          <a:xfrm>
            <a:off x="0" y="-34219"/>
            <a:ext cx="12192000" cy="122400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22625E-3423-E225-C69D-9A2A55B2D0A3}"/>
              </a:ext>
            </a:extLst>
          </p:cNvPr>
          <p:cNvSpPr txBox="1"/>
          <p:nvPr/>
        </p:nvSpPr>
        <p:spPr>
          <a:xfrm>
            <a:off x="0" y="62059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46ACF3-74C5-4346-0B65-22A1E13AD0E1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AC878F-CB58-8217-BC73-993241E25EB7}"/>
              </a:ext>
            </a:extLst>
          </p:cNvPr>
          <p:cNvSpPr txBox="1"/>
          <p:nvPr/>
        </p:nvSpPr>
        <p:spPr>
          <a:xfrm>
            <a:off x="0" y="146500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Next Steps – Sprint 2</a:t>
            </a:r>
          </a:p>
          <a:p>
            <a:endParaRPr lang="en-US" dirty="0"/>
          </a:p>
        </p:txBody>
      </p:sp>
      <p:sp>
        <p:nvSpPr>
          <p:cNvPr id="11" name="TextBox 10">
            <a:hlinkClick r:id="rId2"/>
            <a:extLst>
              <a:ext uri="{FF2B5EF4-FFF2-40B4-BE49-F238E27FC236}">
                <a16:creationId xmlns:a16="http://schemas.microsoft.com/office/drawing/2014/main" id="{BAC75054-5248-88B1-F9D6-0DD03A6E4E96}"/>
              </a:ext>
            </a:extLst>
          </p:cNvPr>
          <p:cNvSpPr txBox="1"/>
          <p:nvPr/>
        </p:nvSpPr>
        <p:spPr>
          <a:xfrm>
            <a:off x="1327354" y="2142287"/>
            <a:ext cx="9654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Learn and implement new architectural pattern MVVM and Java framework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mvvmFX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6345D4-4897-C625-2D87-378AEA353C2A}"/>
              </a:ext>
            </a:extLst>
          </p:cNvPr>
          <p:cNvSpPr txBox="1"/>
          <p:nvPr/>
        </p:nvSpPr>
        <p:spPr>
          <a:xfrm>
            <a:off x="1327354" y="2803206"/>
            <a:ext cx="9718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user authentication module (registration, login) - Nhi</a:t>
            </a:r>
          </a:p>
        </p:txBody>
      </p:sp>
      <p:sp>
        <p:nvSpPr>
          <p:cNvPr id="16" name="TextBox 15">
            <a:hlinkClick r:id="rId3"/>
            <a:extLst>
              <a:ext uri="{FF2B5EF4-FFF2-40B4-BE49-F238E27FC236}">
                <a16:creationId xmlns:a16="http://schemas.microsoft.com/office/drawing/2014/main" id="{0C03E250-001B-75D8-F277-A3EB958D8557}"/>
              </a:ext>
            </a:extLst>
          </p:cNvPr>
          <p:cNvSpPr txBox="1"/>
          <p:nvPr/>
        </p:nvSpPr>
        <p:spPr>
          <a:xfrm>
            <a:off x="1327354" y="3434919"/>
            <a:ext cx="924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flashcard management module (create, edit, delete, view) - Kim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6423B3-CF43-019E-F106-CBB9FCA62ADA}"/>
              </a:ext>
            </a:extLst>
          </p:cNvPr>
          <p:cNvSpPr txBox="1"/>
          <p:nvPr/>
        </p:nvSpPr>
        <p:spPr>
          <a:xfrm>
            <a:off x="1327354" y="4066632"/>
            <a:ext cx="9581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 flashcard set management module (create, edit, delete, view, share) - Tu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B6468-6A98-5A8C-B594-B8B95BD15A1C}"/>
              </a:ext>
            </a:extLst>
          </p:cNvPr>
          <p:cNvSpPr txBox="1"/>
          <p:nvPr/>
        </p:nvSpPr>
        <p:spPr>
          <a:xfrm>
            <a:off x="1327354" y="4727551"/>
            <a:ext cx="7924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Estimated time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12 days.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End date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10/02/2025</a:t>
            </a:r>
          </a:p>
        </p:txBody>
      </p:sp>
    </p:spTree>
    <p:extLst>
      <p:ext uri="{BB962C8B-B14F-4D97-AF65-F5344CB8AC3E}">
        <p14:creationId xmlns:p14="http://schemas.microsoft.com/office/powerpoint/2010/main" val="2483014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76B0-73AE-7809-D2E3-E5236C9C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59A5F3-C260-4F17-AE5E-76D4E318DF69}"/>
              </a:ext>
            </a:extLst>
          </p:cNvPr>
          <p:cNvSpPr txBox="1"/>
          <p:nvPr/>
        </p:nvSpPr>
        <p:spPr>
          <a:xfrm>
            <a:off x="4635910" y="212296"/>
            <a:ext cx="358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39E6C5-1EB3-9408-FDA9-07AFFB4FBB89}"/>
              </a:ext>
            </a:extLst>
          </p:cNvPr>
          <p:cNvSpPr txBox="1"/>
          <p:nvPr/>
        </p:nvSpPr>
        <p:spPr>
          <a:xfrm>
            <a:off x="0" y="620596"/>
            <a:ext cx="1219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Super Flash - Online flashcard system for study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9C6E0-E278-B141-9575-6DE0A59C48C1}"/>
              </a:ext>
            </a:extLst>
          </p:cNvPr>
          <p:cNvSpPr txBox="1"/>
          <p:nvPr/>
        </p:nvSpPr>
        <p:spPr>
          <a:xfrm>
            <a:off x="4449096" y="73796"/>
            <a:ext cx="3588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Sprint 1 Review</a:t>
            </a:r>
          </a:p>
        </p:txBody>
      </p:sp>
      <p:pic>
        <p:nvPicPr>
          <p:cNvPr id="6" name="Picture 5" descr="A group of people reading books&#10;&#10;AI-generated content may be incorrect.">
            <a:extLst>
              <a:ext uri="{FF2B5EF4-FFF2-40B4-BE49-F238E27FC236}">
                <a16:creationId xmlns:a16="http://schemas.microsoft.com/office/drawing/2014/main" id="{E785B4B8-D793-B406-7D43-F36527154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3400"/>
            <a:ext cx="12192000" cy="7924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2C2429-EB9A-A252-0816-6FC1AC669D92}"/>
              </a:ext>
            </a:extLst>
          </p:cNvPr>
          <p:cNvSpPr txBox="1"/>
          <p:nvPr/>
        </p:nvSpPr>
        <p:spPr>
          <a:xfrm>
            <a:off x="3048000" y="2731008"/>
            <a:ext cx="58643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FI" sz="3200" b="1" dirty="0">
                <a:latin typeface="Arial" panose="020B0604020202020204" pitchFamily="34" charset="0"/>
                <a:cs typeface="Arial" panose="020B0604020202020204" pitchFamily="34" charset="0"/>
              </a:rPr>
              <a:t>Thank you for listening to our team!</a:t>
            </a:r>
          </a:p>
        </p:txBody>
      </p:sp>
    </p:spTree>
    <p:extLst>
      <p:ext uri="{BB962C8B-B14F-4D97-AF65-F5344CB8AC3E}">
        <p14:creationId xmlns:p14="http://schemas.microsoft.com/office/powerpoint/2010/main" val="4074353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747</Words>
  <Application>Microsoft Office PowerPoint</Application>
  <PresentationFormat>Widescreen</PresentationFormat>
  <Paragraphs>107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Nhi Dinh</dc:creator>
  <cp:lastModifiedBy>Nhi Dinh</cp:lastModifiedBy>
  <cp:revision>18</cp:revision>
  <dcterms:created xsi:type="dcterms:W3CDTF">2025-01-28T13:34:54Z</dcterms:created>
  <dcterms:modified xsi:type="dcterms:W3CDTF">2025-01-29T07:07:53Z</dcterms:modified>
</cp:coreProperties>
</file>