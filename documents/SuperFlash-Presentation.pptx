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9" r:id="rId12"/>
    <p:sldId id="265" r:id="rId13"/>
    <p:sldId id="276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B900"/>
    <a:srgbClr val="42E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89"/>
  </p:normalViewPr>
  <p:slideViewPr>
    <p:cSldViewPr snapToGrid="0">
      <p:cViewPr varScale="1">
        <p:scale>
          <a:sx n="93" d="100"/>
          <a:sy n="93" d="100"/>
        </p:scale>
        <p:origin x="21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DDD06-B329-5242-95DC-3CD310DCDBF4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51924-4B85-0847-A5AE-B5D1512A4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61994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1592-950B-A31E-1A8B-9D60071CB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956C3-CEE8-4BB4-3C6D-B3EF8D7F0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43881-182B-D2D0-D0EE-61E962463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1E4F-B813-AA44-76E0-AA348AC8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9ED7-D363-17C6-8391-53E0A196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8550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D0C1-2C46-7AAD-D309-2315DCF2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F6920-911E-B062-8162-D6A4B172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3CE63-79E6-D2A2-A292-D9301EAB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37937-B142-E6BC-7162-8D9EF2B0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19AE1-0546-EAC5-80FE-655A92B2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96136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AB10-12BC-5EE3-E014-4DC34D1F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A674C-9423-F88F-2593-6B765031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97EF5-CA69-3F06-9A0A-5705D98A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C1B9-43A7-4982-C810-CDE1FF0F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842A9-A1F4-72FA-8D78-5BEC92F4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57131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25D1-D568-8C1A-02DE-E827BFD9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A8B7B-F61E-C6D0-57D1-48E9B459E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BFAA7-541D-ABEB-A6BE-CB4A4D3B6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A3939-E36F-A95E-4813-26768C7D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40676-1884-AFAD-0357-35D9AF6C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EB153-3B1F-D735-C6F5-53882B41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9076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C09C-CFA3-330B-BFA3-FB4C15A1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33DD4-F154-DCC7-31BA-6364E0B26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0F1CB-7E05-1C8B-F192-1FEBB88D6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A357B-DF4F-86A2-F592-A7FC979F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0A8AC2-8E84-4901-A8E3-A974070C8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AC103-2D7E-A0F7-DF0A-1AB21A50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21141-63F6-1F5E-E47E-F6008997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F494B-7865-ED57-408E-093A0ACF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95256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C891-DEC7-3481-3EBA-54827B03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26C13-E48F-8181-63DB-5E5B04AB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5725F-7E90-BABB-3262-6FCF9FD5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2CB9D-B896-95B5-04F8-F909C357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43113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3ECE1-9A71-8736-10EF-09E3C67C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80FEE-B023-CE60-CE9A-151B1268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38AE3-3635-5F37-93EE-B615B9CE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84558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6A5A-CD2F-7454-C03C-BA81ADAA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3EE5-E07B-3833-B77B-3B1BF1474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B360E-CDEE-9949-E119-349DD8464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F7B64-F3EE-F469-E1B3-406B7524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93CC0-E59F-B55D-3E02-A26F4E27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1B0D9-7500-5629-15FB-F3AB2476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36427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E10C-5900-7767-AEEA-47A37F8C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F6455-DF06-FE50-E20C-2C230EBF8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E6694-5091-DA5F-830F-84589EED2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C2C74-C3F6-BFCF-3C6C-F8A4C2D0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1BFA4-DB58-7192-57E8-BA2F2C01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71BE7-BF18-E188-30FA-21E0B559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35375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F6E3-E809-E3CF-5FAB-EF331D79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C177A-23C2-A09F-E61A-94C83B54E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08A8C-D53F-31D7-CD01-1E14FE51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118CB-336E-B661-90BE-CF82C3DA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28788-08CB-753F-ED45-6B67AFC7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6678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5AD1F-79F8-562E-40D5-95585A43D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E70F1-51A8-0231-FEE2-A34E623AE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AF299-F454-A9E9-EF8D-905A0498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4C3ED-C114-15C9-80E5-C6CBE1CEE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201D-808D-CD6F-834C-1C72EDCF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65457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9B078-C779-B214-4137-6F4406FF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426B-3A26-6EF3-4977-B2A4CDBD3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8FD0D-0A09-BE3B-48A0-0DF178FDC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BA2B7-272E-A748-B182-C48BBF73F4A2}" type="datetimeFigureOut">
              <a:rPr lang="en-FI" smtClean="0"/>
              <a:t>11.3.2025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FAC3A-5BA6-2CD5-1187-3CEE4558A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F5E4B-63CD-15CE-1DAA-AE3B4B8E1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05632-BF36-A54C-9926-372CA68A9CF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7274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trello.com/b/IzN7d8mw/product-backlo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github.com/nhidinh91/flash_card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ithub.com/nhidinh91/flash_card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trello.com/b/IzN7d8mw/product-backlo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ithub.com/nhidinh91/flash_card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hyperlink" Target="https://trello.com/b/IzN7d8mw/product-backlog" TargetMode="Externa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80.png"/><Relationship Id="rId18" Type="http://schemas.openxmlformats.org/officeDocument/2006/relationships/slide" Target="slide16.xml"/><Relationship Id="rId3" Type="http://schemas.openxmlformats.org/officeDocument/2006/relationships/image" Target="../media/image14.png"/><Relationship Id="rId21" Type="http://schemas.openxmlformats.org/officeDocument/2006/relationships/slide" Target="slide10.xml"/><Relationship Id="rId7" Type="http://schemas.openxmlformats.org/officeDocument/2006/relationships/image" Target="../media/image16.png"/><Relationship Id="rId12" Type="http://schemas.openxmlformats.org/officeDocument/2006/relationships/slide" Target="slide14.xml"/><Relationship Id="rId17" Type="http://schemas.openxmlformats.org/officeDocument/2006/relationships/image" Target="../media/image20.png"/><Relationship Id="rId25" Type="http://schemas.openxmlformats.org/officeDocument/2006/relationships/image" Target="../media/image22.png"/><Relationship Id="rId2" Type="http://schemas.openxmlformats.org/officeDocument/2006/relationships/image" Target="../media/image2.jp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image" Target="../media/image18.png"/><Relationship Id="rId24" Type="http://schemas.openxmlformats.org/officeDocument/2006/relationships/slide" Target="slide13.xml"/><Relationship Id="rId5" Type="http://schemas.openxmlformats.org/officeDocument/2006/relationships/image" Target="../media/image16.png"/><Relationship Id="rId15" Type="http://schemas.openxmlformats.org/officeDocument/2006/relationships/slide" Target="slide15.xml"/><Relationship Id="rId23" Type="http://schemas.openxmlformats.org/officeDocument/2006/relationships/image" Target="../media/image22.png"/><Relationship Id="rId10" Type="http://schemas.openxmlformats.org/officeDocument/2006/relationships/image" Target="../media/image170.png"/><Relationship Id="rId19" Type="http://schemas.openxmlformats.org/officeDocument/2006/relationships/image" Target="../media/image200.png"/><Relationship Id="rId4" Type="http://schemas.openxmlformats.org/officeDocument/2006/relationships/image" Target="../media/image15.png"/><Relationship Id="rId9" Type="http://schemas.openxmlformats.org/officeDocument/2006/relationships/slide" Target="slide11.xml"/><Relationship Id="rId14" Type="http://schemas.openxmlformats.org/officeDocument/2006/relationships/image" Target="../media/image19.png"/><Relationship Id="rId22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F5FB17-0B0D-9562-4A6E-0E10D34AC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748" y="4645152"/>
            <a:ext cx="9144000" cy="1271016"/>
          </a:xfrm>
        </p:spPr>
        <p:txBody>
          <a:bodyPr>
            <a:normAutofit lnSpcReduction="10000"/>
          </a:bodyPr>
          <a:lstStyle/>
          <a:p>
            <a:r>
              <a:rPr lang="en-FI" dirty="0">
                <a:latin typeface="Chalkboard" panose="03050602040202020205" pitchFamily="66" charset="77"/>
                <a:ea typeface="ADLaM Display" panose="02010000000000000000" pitchFamily="2" charset="77"/>
                <a:cs typeface="ADLaM Display" panose="02010000000000000000" pitchFamily="2" charset="77"/>
              </a:rPr>
              <a:t>Nhi Dinh</a:t>
            </a:r>
          </a:p>
          <a:p>
            <a:r>
              <a:rPr lang="en-FI" dirty="0">
                <a:latin typeface="Chalkboard" panose="03050602040202020205" pitchFamily="66" charset="77"/>
                <a:ea typeface="ADLaM Display" panose="02010000000000000000" pitchFamily="2" charset="77"/>
                <a:cs typeface="ADLaM Display" panose="02010000000000000000" pitchFamily="2" charset="77"/>
              </a:rPr>
              <a:t>Tu Dinh</a:t>
            </a:r>
          </a:p>
          <a:p>
            <a:r>
              <a:rPr lang="en-FI" dirty="0">
                <a:latin typeface="Chalkboard" panose="03050602040202020205" pitchFamily="66" charset="77"/>
                <a:ea typeface="ADLaM Display" panose="02010000000000000000" pitchFamily="2" charset="77"/>
                <a:cs typeface="ADLaM Display" panose="02010000000000000000" pitchFamily="2" charset="77"/>
              </a:rPr>
              <a:t>Kim Tran</a:t>
            </a:r>
          </a:p>
        </p:txBody>
      </p:sp>
      <p:sp>
        <p:nvSpPr>
          <p:cNvPr id="4" name="!!title">
            <a:extLst>
              <a:ext uri="{FF2B5EF4-FFF2-40B4-BE49-F238E27FC236}">
                <a16:creationId xmlns:a16="http://schemas.microsoft.com/office/drawing/2014/main" id="{4207FDD1-1879-C70C-E3CB-23B8FBB454F3}"/>
              </a:ext>
            </a:extLst>
          </p:cNvPr>
          <p:cNvSpPr/>
          <p:nvPr/>
        </p:nvSpPr>
        <p:spPr>
          <a:xfrm>
            <a:off x="4956048" y="3822192"/>
            <a:ext cx="2057400" cy="685800"/>
          </a:xfrm>
          <a:prstGeom prst="roundRect">
            <a:avLst/>
          </a:prstGeom>
          <a:solidFill>
            <a:srgbClr val="42B900"/>
          </a:solidFill>
          <a:ln>
            <a:noFill/>
          </a:ln>
          <a:effectLst>
            <a:outerShdw blurRad="292085" dist="50800" dir="5400000" sx="102000" sy="102000" algn="ctr" rotWithShape="0">
              <a:schemeClr val="accent6">
                <a:alpha val="27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254000"/>
            <a:contourClr>
              <a:schemeClr val="bg1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I" sz="2800" b="1" dirty="0">
                <a:solidFill>
                  <a:schemeClr val="bg1"/>
                </a:solidFill>
                <a:latin typeface="Chalkboard" panose="03050602040202020205" pitchFamily="66" charset="77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803406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5F6F78FF-4C68-C1F4-FE59-022DD625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6600" b="1" dirty="0">
                <a:solidFill>
                  <a:srgbClr val="42B900"/>
                </a:solidFill>
                <a:latin typeface="Chalkboard" panose="03050602040202020205" pitchFamily="66" charset="77"/>
              </a:rPr>
              <a:t>SuperFlash</a:t>
            </a:r>
          </a:p>
        </p:txBody>
      </p:sp>
      <p:sp>
        <p:nvSpPr>
          <p:cNvPr id="3" name="!!content">
            <a:extLst>
              <a:ext uri="{FF2B5EF4-FFF2-40B4-BE49-F238E27FC236}">
                <a16:creationId xmlns:a16="http://schemas.microsoft.com/office/drawing/2014/main" id="{F7D132E9-9028-FF88-1535-EA57BAFAD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7168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Futura Medium" panose="020B0602020204020303" pitchFamily="34" charset="-79"/>
                <a:cs typeface="Futura Medium" panose="020B0602020204020303" pitchFamily="34" charset="-79"/>
              </a:rPr>
              <a:t>Flashcard-based learning platform for students and teachers</a:t>
            </a:r>
          </a:p>
          <a:p>
            <a:pPr marL="0" indent="0">
              <a:buNone/>
            </a:pPr>
            <a:r>
              <a:rPr lang="en-GB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Key Features:</a:t>
            </a:r>
            <a:r>
              <a:rPr lang="en-GB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  <a:p>
            <a:pPr lvl="1"/>
            <a:r>
              <a:rPr lang="en-GB" dirty="0">
                <a:latin typeface="Futura Medium" panose="020B0602020204020303" pitchFamily="34" charset="-79"/>
                <a:cs typeface="Futura Medium" panose="020B0602020204020303" pitchFamily="34" charset="-79"/>
              </a:rPr>
              <a:t>Create, review, and organize flashcards.</a:t>
            </a:r>
          </a:p>
          <a:p>
            <a:pPr lvl="1"/>
            <a:r>
              <a:rPr lang="en-GB" dirty="0">
                <a:latin typeface="Futura Medium" panose="020B0602020204020303" pitchFamily="34" charset="-79"/>
                <a:cs typeface="Futura Medium" panose="020B0602020204020303" pitchFamily="34" charset="-79"/>
              </a:rPr>
              <a:t>Study with tools like flipping, shuffling.</a:t>
            </a:r>
          </a:p>
          <a:p>
            <a:pPr lvl="1"/>
            <a:r>
              <a:rPr lang="en-GB" dirty="0">
                <a:latin typeface="Futura Medium" panose="020B0602020204020303" pitchFamily="34" charset="-79"/>
                <a:cs typeface="Futura Medium" panose="020B0602020204020303" pitchFamily="34" charset="-79"/>
              </a:rPr>
              <a:t>Quiz mode for self-assessment.</a:t>
            </a:r>
          </a:p>
          <a:p>
            <a:pPr lvl="1"/>
            <a:r>
              <a:rPr lang="en-GB" dirty="0">
                <a:latin typeface="Futura Medium" panose="020B0602020204020303" pitchFamily="34" charset="-79"/>
                <a:cs typeface="Futura Medium" panose="020B0602020204020303" pitchFamily="34" charset="-79"/>
              </a:rPr>
              <a:t>Classroom management for teachers to assign sets and track progress.</a:t>
            </a:r>
          </a:p>
          <a:p>
            <a:endParaRPr lang="en-FI" dirty="0"/>
          </a:p>
        </p:txBody>
      </p:sp>
      <p:pic>
        <p:nvPicPr>
          <p:cNvPr id="4" name="Picture 4" descr="ChatGPT logo PNG transparent image download, size: 1000x1000px">
            <a:extLst>
              <a:ext uri="{FF2B5EF4-FFF2-40B4-BE49-F238E27FC236}">
                <a16:creationId xmlns:a16="http://schemas.microsoft.com/office/drawing/2014/main" id="{FF5148A0-3659-3C18-CBFA-059392F3D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0296" y="1754696"/>
            <a:ext cx="1052512" cy="105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Github Copilot Logo PNG Vectors Free Download">
            <a:extLst>
              <a:ext uri="{FF2B5EF4-FFF2-40B4-BE49-F238E27FC236}">
                <a16:creationId xmlns:a16="http://schemas.microsoft.com/office/drawing/2014/main" id="{55C19E74-AC4C-FB80-C263-001FD41D4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8038" y="1628363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Github Logo - Free social media icons">
            <a:hlinkClick r:id="rId5"/>
            <a:extLst>
              <a:ext uri="{FF2B5EF4-FFF2-40B4-BE49-F238E27FC236}">
                <a16:creationId xmlns:a16="http://schemas.microsoft.com/office/drawing/2014/main" id="{C9748D58-38B9-01BB-527C-528ED270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4076" y="3153792"/>
            <a:ext cx="950149" cy="95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Trello Logo, symbol, meaning, history, PNG, brand">
            <a:hlinkClick r:id="rId7"/>
            <a:extLst>
              <a:ext uri="{FF2B5EF4-FFF2-40B4-BE49-F238E27FC236}">
                <a16:creationId xmlns:a16="http://schemas.microsoft.com/office/drawing/2014/main" id="{1587877A-10DC-A496-41DA-9079DABE9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8218" y="4303807"/>
            <a:ext cx="1645920" cy="92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586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FD578-B181-93A9-5F6A-C2C3977D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78E3C803-D598-1CF5-F144-8BE946DC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Applied AI, GitHub, and Trello</a:t>
            </a:r>
          </a:p>
        </p:txBody>
      </p:sp>
      <p:sp>
        <p:nvSpPr>
          <p:cNvPr id="3" name="!!content">
            <a:extLst>
              <a:ext uri="{FF2B5EF4-FFF2-40B4-BE49-F238E27FC236}">
                <a16:creationId xmlns:a16="http://schemas.microsoft.com/office/drawing/2014/main" id="{54A984D1-3713-D9D4-CAF9-9D00CCB9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825625"/>
            <a:ext cx="6099048" cy="4351338"/>
          </a:xfrm>
        </p:spPr>
        <p:txBody>
          <a:bodyPr/>
          <a:lstStyle/>
          <a:p>
            <a:pPr marL="4572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Use of AI: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Futura Medium" panose="020B0602020204020303" pitchFamily="34" charset="-79"/>
                <a:cs typeface="Futura Medium" panose="020B0602020204020303" pitchFamily="34" charset="-79"/>
              </a:rPr>
              <a:t>ChatGPT, Copilot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22860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Futura Medium" panose="020B0602020204020303" pitchFamily="34" charset="-79"/>
                <a:cs typeface="Futura Medium" panose="020B0602020204020303" pitchFamily="34" charset="-79"/>
              </a:rPr>
              <a:t>Review organize user stories and research new technology</a:t>
            </a:r>
          </a:p>
          <a:p>
            <a:pPr marL="4572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4572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  <a:hlinkClick r:id="rId3"/>
              </a:rPr>
              <a:t>GitHub link</a:t>
            </a:r>
            <a:endParaRPr lang="en-US" b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4572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4572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  <a:hlinkClick r:id="rId4"/>
              </a:rPr>
              <a:t>Trello link</a:t>
            </a:r>
            <a:endParaRPr lang="en-US" b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0" indent="0">
              <a:buNone/>
            </a:pPr>
            <a:endParaRPr lang="en-FI" dirty="0"/>
          </a:p>
        </p:txBody>
      </p:sp>
      <p:pic>
        <p:nvPicPr>
          <p:cNvPr id="1028" name="Picture 4" descr="ChatGPT logo PNG transparent image download, size: 1000x1000px">
            <a:extLst>
              <a:ext uri="{FF2B5EF4-FFF2-40B4-BE49-F238E27FC236}">
                <a16:creationId xmlns:a16="http://schemas.microsoft.com/office/drawing/2014/main" id="{4D93B367-596C-5564-9476-0DD687535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32" y="1754696"/>
            <a:ext cx="1052512" cy="105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Copilot Logo PNG Vectors Free Download">
            <a:extLst>
              <a:ext uri="{FF2B5EF4-FFF2-40B4-BE49-F238E27FC236}">
                <a16:creationId xmlns:a16="http://schemas.microsoft.com/office/drawing/2014/main" id="{31C94F64-FF1F-F795-F533-672B288D0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690" y="1628363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- Free social media icons">
            <a:hlinkClick r:id="rId3"/>
            <a:extLst>
              <a:ext uri="{FF2B5EF4-FFF2-40B4-BE49-F238E27FC236}">
                <a16:creationId xmlns:a16="http://schemas.microsoft.com/office/drawing/2014/main" id="{DF9C5B84-B37C-62C1-0EAE-E80079C03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52" y="3153792"/>
            <a:ext cx="950149" cy="95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rello Logo, symbol, meaning, history, PNG, brand">
            <a:hlinkClick r:id="rId4"/>
            <a:extLst>
              <a:ext uri="{FF2B5EF4-FFF2-40B4-BE49-F238E27FC236}">
                <a16:creationId xmlns:a16="http://schemas.microsoft.com/office/drawing/2014/main" id="{6B8E30DA-1E4E-0E17-97D2-AD7707480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10" y="4303807"/>
            <a:ext cx="1645920" cy="92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30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6CF55-144D-5643-93D5-00E3BAA5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18FC542F-E993-051F-9AC0-6BE1211455AC}"/>
              </a:ext>
            </a:extLst>
          </p:cNvPr>
          <p:cNvSpPr txBox="1">
            <a:spLocks/>
          </p:cNvSpPr>
          <p:nvPr/>
        </p:nvSpPr>
        <p:spPr>
          <a:xfrm>
            <a:off x="4846320" y="1825625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spcBef>
                <a:spcPts val="0"/>
              </a:spcBef>
              <a:buSzPts val="1760"/>
              <a:buFont typeface="Arial" panose="020B0604020202020204" pitchFamily="34" charset="0"/>
              <a:buNone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Use of AI: </a:t>
            </a:r>
            <a:r>
              <a:rPr lang="en-US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ChatGPT, Copilot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indent="-182880">
              <a:spcBef>
                <a:spcPts val="0"/>
              </a:spcBef>
              <a:buSzPts val="1760"/>
            </a:pPr>
            <a:r>
              <a:rPr lang="en-US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Review organize user stories and research new technology</a:t>
            </a:r>
          </a:p>
          <a:p>
            <a:pPr marL="45720" indent="0">
              <a:spcBef>
                <a:spcPts val="0"/>
              </a:spcBef>
              <a:buSzPts val="1760"/>
              <a:buFont typeface="Arial" panose="020B0604020202020204" pitchFamily="34" charset="0"/>
              <a:buNone/>
            </a:pP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45720" indent="0">
              <a:spcBef>
                <a:spcPts val="1400"/>
              </a:spcBef>
              <a:buSzPts val="1760"/>
              <a:buFont typeface="Arial" panose="020B0604020202020204" pitchFamily="34" charset="0"/>
              <a:buNone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  <a:hlinkClick r:id="rId3"/>
              </a:rPr>
              <a:t>GitHub link</a:t>
            </a:r>
            <a:endParaRPr lang="en-US" b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45720" indent="0">
              <a:spcBef>
                <a:spcPts val="1400"/>
              </a:spcBef>
              <a:buSzPts val="1760"/>
              <a:buFont typeface="Arial" panose="020B0604020202020204" pitchFamily="34" charset="0"/>
              <a:buNone/>
            </a:pP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45720" indent="0">
              <a:spcBef>
                <a:spcPts val="1400"/>
              </a:spcBef>
              <a:buSzPts val="1760"/>
              <a:buFont typeface="Arial" panose="020B0604020202020204" pitchFamily="34" charset="0"/>
              <a:buNone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  <a:hlinkClick r:id="rId4"/>
              </a:rPr>
              <a:t>Trello link</a:t>
            </a:r>
            <a:endParaRPr lang="en-US" b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FI" dirty="0"/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7F2294FF-4A63-8B6E-6BC9-88A3869F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Product Backlog</a:t>
            </a:r>
          </a:p>
        </p:txBody>
      </p:sp>
      <p:pic>
        <p:nvPicPr>
          <p:cNvPr id="1028" name="Picture 4" descr="ChatGPT logo PNG transparent image download, size: 1000x1000px">
            <a:extLst>
              <a:ext uri="{FF2B5EF4-FFF2-40B4-BE49-F238E27FC236}">
                <a16:creationId xmlns:a16="http://schemas.microsoft.com/office/drawing/2014/main" id="{07BB2F6C-9CE6-6E98-E657-2FC93957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32" y="7131368"/>
            <a:ext cx="1052512" cy="105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Copilot Logo PNG Vectors Free Download">
            <a:extLst>
              <a:ext uri="{FF2B5EF4-FFF2-40B4-BE49-F238E27FC236}">
                <a16:creationId xmlns:a16="http://schemas.microsoft.com/office/drawing/2014/main" id="{3C9985B7-8B42-7C10-9E61-B1796D9B0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690" y="7005035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- Free social media icons">
            <a:hlinkClick r:id="rId3"/>
            <a:extLst>
              <a:ext uri="{FF2B5EF4-FFF2-40B4-BE49-F238E27FC236}">
                <a16:creationId xmlns:a16="http://schemas.microsoft.com/office/drawing/2014/main" id="{0EC83BAC-F7DC-C43C-B38F-27B40CC75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52" y="8530464"/>
            <a:ext cx="950149" cy="95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rello Logo, symbol, meaning, history, PNG, brand">
            <a:hlinkClick r:id="rId4"/>
            <a:extLst>
              <a:ext uri="{FF2B5EF4-FFF2-40B4-BE49-F238E27FC236}">
                <a16:creationId xmlns:a16="http://schemas.microsoft.com/office/drawing/2014/main" id="{ECB0F9C8-C99A-B5A8-A6D1-56B0D39BB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10" y="9680479"/>
            <a:ext cx="1645920" cy="92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!!pic2" descr="A screenshot of a phone&#10;&#10;AI-generated content may be incorrect.">
            <a:extLst>
              <a:ext uri="{FF2B5EF4-FFF2-40B4-BE49-F238E27FC236}">
                <a16:creationId xmlns:a16="http://schemas.microsoft.com/office/drawing/2014/main" id="{A0E62145-C00D-52EC-94F7-3F1306C72D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9065" y="1825625"/>
            <a:ext cx="2066303" cy="4818888"/>
          </a:xfrm>
          <a:prstGeom prst="rect">
            <a:avLst/>
          </a:prstGeom>
        </p:spPr>
      </p:pic>
      <p:pic>
        <p:nvPicPr>
          <p:cNvPr id="6" name="!!pic1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98E88241-3142-B300-8D5C-E204CCFEF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1170164" y="1392753"/>
            <a:ext cx="9851671" cy="546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45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E848D-BF65-2790-52F3-B90E057A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80DD524A-58DF-2F3F-17DC-6190D1C2085B}"/>
              </a:ext>
            </a:extLst>
          </p:cNvPr>
          <p:cNvSpPr txBox="1">
            <a:spLocks/>
          </p:cNvSpPr>
          <p:nvPr/>
        </p:nvSpPr>
        <p:spPr>
          <a:xfrm>
            <a:off x="5794248" y="1690688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Scrum Master: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Nhi Dinh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Sprint Backlog: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Planning and Design tasks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Done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All tasks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Postpone: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None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Testing: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None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FI" dirty="0"/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B348771F-F45D-9CC1-8BF5-292DA239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Sprint 1</a:t>
            </a:r>
          </a:p>
        </p:txBody>
      </p:sp>
      <p:pic>
        <p:nvPicPr>
          <p:cNvPr id="5" name="!!pic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66DDFD2-9E1C-DA28-D190-C648FBACD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12" y="1690688"/>
            <a:ext cx="2330547" cy="2764914"/>
          </a:xfrm>
          <a:prstGeom prst="rect">
            <a:avLst/>
          </a:prstGeom>
        </p:spPr>
      </p:pic>
      <p:pic>
        <p:nvPicPr>
          <p:cNvPr id="8" name="!!pic2" descr="A screenshot of a phone&#10;&#10;AI-generated content may be incorrect.">
            <a:extLst>
              <a:ext uri="{FF2B5EF4-FFF2-40B4-BE49-F238E27FC236}">
                <a16:creationId xmlns:a16="http://schemas.microsoft.com/office/drawing/2014/main" id="{D0035A25-6415-5BD4-C67E-53E06DC7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570" y="1690688"/>
            <a:ext cx="2117683" cy="49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5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D9E86-96C8-E754-3BB1-7C181C08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FF14E3CB-4CDA-C57F-F4B3-0D6334F674DE}"/>
              </a:ext>
            </a:extLst>
          </p:cNvPr>
          <p:cNvSpPr txBox="1">
            <a:spLocks/>
          </p:cNvSpPr>
          <p:nvPr/>
        </p:nvSpPr>
        <p:spPr>
          <a:xfrm>
            <a:off x="5794248" y="1690688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Scrum Master: </a:t>
            </a: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Tu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Dinh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Sprint Backlog: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4 main tasks + Testing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Done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All tasks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Postpone: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None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Testing: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182 test cases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FI" dirty="0"/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034D59E7-415A-DFB5-5CF1-906C8D2C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Sprint 2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ADEF334C-1CE1-FBE1-AC54-65B84089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1690688"/>
            <a:ext cx="2445484" cy="4619248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F3F533CB-01BA-1E89-6EAE-88F832885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96460" y="1690688"/>
            <a:ext cx="2053364" cy="49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35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76C8C-7F66-F501-3953-E82BB938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40072C91-A1E9-AA15-BFC0-F34EE3717D3C}"/>
              </a:ext>
            </a:extLst>
          </p:cNvPr>
          <p:cNvSpPr txBox="1">
            <a:spLocks/>
          </p:cNvSpPr>
          <p:nvPr/>
        </p:nvSpPr>
        <p:spPr>
          <a:xfrm>
            <a:off x="5794248" y="1690688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Scrum Master: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Kim Tran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Sprint Backlog: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4 main tasks + Testing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Done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All tasks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Postpone: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None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Testing: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245 test cases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FI" dirty="0"/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1138E7AB-2A59-E653-1020-DF2B7125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Sprint 3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B1A4F7FF-74D3-1EE8-3D93-7C4B92CAE3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1690687"/>
            <a:ext cx="2439390" cy="4027626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80EF52FC-898F-F6A7-9A81-D1F33FAA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53853" y="1690687"/>
            <a:ext cx="1657643" cy="51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29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FAAB5-87FC-523D-4998-9A06721A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0DA559F7-3A76-22F7-DA5A-44A3BA8D1794}"/>
              </a:ext>
            </a:extLst>
          </p:cNvPr>
          <p:cNvSpPr txBox="1">
            <a:spLocks/>
          </p:cNvSpPr>
          <p:nvPr/>
        </p:nvSpPr>
        <p:spPr>
          <a:xfrm>
            <a:off x="5794248" y="1690688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>
                <a:latin typeface="FUTURA MEDIUM" panose="020B0602020204020303" pitchFamily="34" charset="-79"/>
                <a:cs typeface="FUTURA MEDIUM" panose="020B0602020204020303" pitchFamily="34" charset="-79"/>
              </a:rPr>
              <a:t>Scrum </a:t>
            </a: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Master: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Kim Tran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Sprint Backlog: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4 main tasks + Testing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Done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All tasks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Postpone: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None</a:t>
            </a:r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Testing: 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256 test cases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85673BAA-F3BD-3EF7-13CD-875225B3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Sprint 4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B4B3A189-9A5B-DC10-4A6D-64ED426C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0814" y="1708427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FC70FB8D-7586-C6A2-0F07-9810BC1C85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2413" y="1708427"/>
            <a:ext cx="1931963" cy="513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11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B99F9-AFB4-28B5-C1A7-69766659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78F4DB3C-F8A3-5914-6D8B-64262A784126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249FA6CA-18DE-3351-EBEC-42AB7B00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Architectural Design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CADF4845-8EE3-C723-31BB-2F34DCAD3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C07AA4ED-022A-3324-0F5C-0BBAF1081F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B5623BCE-96DA-BA7D-21DA-CD4B48541DB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4982284"/>
                  </p:ext>
                </p:extLst>
              </p:nvPr>
            </p:nvGraphicFramePr>
            <p:xfrm>
              <a:off x="8041386" y="1561171"/>
              <a:ext cx="3048000" cy="1714500"/>
            </p:xfrm>
            <a:graphic>
              <a:graphicData uri="http://schemas.microsoft.com/office/powerpoint/2016/slidezoom">
                <pslz:sldZm>
                  <pslz:sldZmObj sldId="265" cId="3510275029">
                    <pslz:zmPr id="{9D84B413-D48A-F44D-957A-866FF0C09D24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5623BCE-96DA-BA7D-21DA-CD4B48541D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1386" y="1561171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697E16EC-F8FE-771D-2322-13A620D52B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2128402"/>
                  </p:ext>
                </p:extLst>
              </p:nvPr>
            </p:nvGraphicFramePr>
            <p:xfrm>
              <a:off x="4638294" y="1561171"/>
              <a:ext cx="3048000" cy="1714500"/>
            </p:xfrm>
            <a:graphic>
              <a:graphicData uri="http://schemas.microsoft.com/office/powerpoint/2016/slidezoom">
                <pslz:sldZm>
                  <pslz:sldZmObj sldId="269" cId="3454910257">
                    <pslz:zmPr id="{E1375145-3174-4947-B3C6-F786B5BA72C6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697E16EC-F8FE-771D-2322-13A620D52B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38294" y="1561171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D1FC2537-66E9-A5C9-32B5-5243D73A2F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9608370"/>
                  </p:ext>
                </p:extLst>
              </p:nvPr>
            </p:nvGraphicFramePr>
            <p:xfrm>
              <a:off x="70573" y="3860063"/>
              <a:ext cx="3048000" cy="1714500"/>
            </p:xfrm>
            <a:graphic>
              <a:graphicData uri="http://schemas.microsoft.com/office/powerpoint/2016/slidezoom">
                <pslz:sldZm>
                  <pslz:sldZmObj sldId="266" cId="1699791454">
                    <pslz:zmPr id="{5858DF47-B5D1-7C40-ABDD-AC9365036957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1FC2537-66E9-A5C9-32B5-5243D73A2F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573" y="3860063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E46B9A31-5662-EAF3-EEDC-616716FF2A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405098"/>
                  </p:ext>
                </p:extLst>
              </p:nvPr>
            </p:nvGraphicFramePr>
            <p:xfrm>
              <a:off x="5889195" y="3860063"/>
              <a:ext cx="3048000" cy="1714500"/>
            </p:xfrm>
            <a:graphic>
              <a:graphicData uri="http://schemas.microsoft.com/office/powerpoint/2016/slidezoom">
                <pslz:sldZm>
                  <pslz:sldZmObj sldId="267" cId="892802248">
                    <pslz:zmPr id="{7A2ECB66-E470-AD48-9F98-EA7ACBEF1069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E46B9A31-5662-EAF3-EEDC-616716FF2A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89195" y="3860063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DDC020BA-4B2C-6B6F-DE10-B490304F4B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9412700"/>
                  </p:ext>
                </p:extLst>
              </p:nvPr>
            </p:nvGraphicFramePr>
            <p:xfrm>
              <a:off x="9073427" y="3860063"/>
              <a:ext cx="3048000" cy="1714500"/>
            </p:xfrm>
            <a:graphic>
              <a:graphicData uri="http://schemas.microsoft.com/office/powerpoint/2016/slidezoom">
                <pslz:sldZm>
                  <pslz:sldZmObj sldId="268" cId="2198889779">
                    <pslz:zmPr id="{C7114FFB-1B20-AD4C-89F7-AEBFC9CFD411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DDC020BA-4B2C-6B6F-DE10-B490304F4B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73427" y="3860063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579F7A67-8C22-86B0-47AB-1880C6A60B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89097215"/>
                  </p:ext>
                </p:extLst>
              </p:nvPr>
            </p:nvGraphicFramePr>
            <p:xfrm>
              <a:off x="1235202" y="1561171"/>
              <a:ext cx="3048000" cy="1714500"/>
            </p:xfrm>
            <a:graphic>
              <a:graphicData uri="http://schemas.microsoft.com/office/powerpoint/2016/slidezoom">
                <pslz:sldZm>
                  <pslz:sldZmObj sldId="275" cId="2445184052">
                    <pslz:zmPr id="{D8948657-C588-2A40-963B-E623A27A407D}" returnToParent="0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Slide Zoom 16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579F7A67-8C22-86B0-47AB-1880C6A60B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35202" y="1561171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CB0A5CEF-5BC7-4120-52BA-3CE3B203FD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5830589"/>
                  </p:ext>
                </p:extLst>
              </p:nvPr>
            </p:nvGraphicFramePr>
            <p:xfrm>
              <a:off x="2979884" y="3860063"/>
              <a:ext cx="3048000" cy="1714500"/>
            </p:xfrm>
            <a:graphic>
              <a:graphicData uri="http://schemas.microsoft.com/office/powerpoint/2016/slidezoom">
                <pslz:sldZm>
                  <pslz:sldZmObj sldId="276" cId="857796895">
                    <pslz:zmPr id="{9C1A1763-DE23-324C-A270-8DD6D8121AC6}" returnToParent="0" transitionDur="1000">
                      <p166:blipFill xmlns:p166="http://schemas.microsoft.com/office/powerpoint/2016/6/main">
                        <a:blip r:embed="rId2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CB0A5CEF-5BC7-4120-52BA-3CE3B203FD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79884" y="3860063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37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F4665-5BC9-40C7-C752-735D13F2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824960D5-E715-F6F8-BAD9-4CF57781524F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6C755B7B-7198-CC76-3C28-D669DFE8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ER Diagram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0F18CDA2-2261-A36D-C042-176E0C29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E1C85817-9026-9944-EB2B-B32293A6B8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F2D345BD-F5EB-A704-3750-43BD99F24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863" y="1382791"/>
            <a:ext cx="9032274" cy="547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84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ACAAD-64E1-6339-5450-1F69A394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B152C9CB-3DBF-71D4-993F-A75EDA4E0D7F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235266FA-5087-7A34-195F-15C2D8FE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Database Schema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2C8E3571-0AA6-61E9-299A-081EC4F6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9A71A9EE-7C72-625C-46DF-5BCEAA74BC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89E919-4D4F-21DC-0D60-4C11A5ACBF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9873" y="1580069"/>
            <a:ext cx="10213590" cy="477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10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5BD3C-EB0C-FDC7-68FD-CC9A4AD4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86218714-F374-6256-7ED0-8705B12E5988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D7030BF6-E0E4-E4EA-E27C-8172B733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Use case Diagram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F823227E-69C1-D1B9-4DAD-67528E8BF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6A6D0D7B-1DFF-1904-AF12-7525B5FCCC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482CBA-5A40-6A60-F5DE-8AD8D61DCD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56355" y="1344168"/>
            <a:ext cx="6479289" cy="55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75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727CE-4439-673C-A700-D95846DC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FA1E90CF-64F2-4DBA-1A7C-FD8B01E3E3D0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B1EFDE3E-EAA3-0E4A-BF5C-F67EE96C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Package Diagram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27240E8C-BE72-750B-9E68-0BEC89418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B64FC5EE-025E-6361-2EEF-631AAB4EA6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7E3A4F-3E91-4026-E8E8-1FE516451E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19730" y="1318162"/>
            <a:ext cx="7915381" cy="553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96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03C75-B1FE-1835-7954-A71C7A865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2938E152-F656-4629-1010-04398FA82B5A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F2C36491-8AF6-2755-2F1E-37BEA0F8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Class Diagram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910C2CDB-3F21-8955-DECA-7B0683561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2951DE80-91A5-6B93-AA42-F7200666D2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E8ED57-088A-A93B-1A78-42140F58CF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41503" y="1387128"/>
            <a:ext cx="5130330" cy="54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9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8E49E-69D1-B9B4-BBDD-80396C88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1D48444E-F05E-71A4-4703-0B864F1677E8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E78C6FA0-8DC8-DA2F-79B1-DBAE6901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Activity Diagram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A228AB6D-DB31-3550-C255-3D12F7B1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7F4D39AD-8544-1018-6A6C-19554C3661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DF68DB8F-271A-51D9-C382-1B18015D1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61" y="1321877"/>
            <a:ext cx="4794477" cy="55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02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59FD3-CC11-F326-F13B-23917C0B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B603205D-C086-87F2-C402-7FC49FFBD45A}"/>
              </a:ext>
            </a:extLst>
          </p:cNvPr>
          <p:cNvSpPr txBox="1">
            <a:spLocks/>
          </p:cNvSpPr>
          <p:nvPr/>
        </p:nvSpPr>
        <p:spPr>
          <a:xfrm>
            <a:off x="12304776" y="1791272"/>
            <a:ext cx="6099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</a:pP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1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09FDD3E4-05A2-B078-3824-698F5A1B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Sequence Diagram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344FC806-EE89-D997-A977-D09E9C695D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60F6A291-F58D-6C6F-2864-180C9918F2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6" name="Picture 5" descr="A diagram of a flashcard system&#10;&#10;AI-generated content may be incorrect.">
            <a:extLst>
              <a:ext uri="{FF2B5EF4-FFF2-40B4-BE49-F238E27FC236}">
                <a16:creationId xmlns:a16="http://schemas.microsoft.com/office/drawing/2014/main" id="{EFAA4FED-962B-5990-C797-7DD4B0181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995" y="1394110"/>
            <a:ext cx="8000010" cy="546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8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7D249-78B0-4B64-A429-026C9A06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CEB4D61E-2210-36CA-188C-67CB7E13AB0D}"/>
              </a:ext>
            </a:extLst>
          </p:cNvPr>
          <p:cNvSpPr txBox="1">
            <a:spLocks/>
          </p:cNvSpPr>
          <p:nvPr/>
        </p:nvSpPr>
        <p:spPr>
          <a:xfrm>
            <a:off x="1033272" y="1690688"/>
            <a:ext cx="98389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Architectural pattern: MVVM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Using JavaBeans API ( properties binding) for MVVM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Programming language: 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Java UI framework: JavaFX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Database: MariaDB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Interaction with Database: Hibernate - A java ORM framework of JPA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Authentication with Google API using OAuth2.0</a:t>
            </a:r>
            <a:endParaRPr lang="en-US" sz="1200" dirty="0">
              <a:solidFill>
                <a:schemeClr val="dk1"/>
              </a:solidFill>
              <a:latin typeface="Futura Medium" panose="020B0602020204020303" pitchFamily="34" charset="-79"/>
              <a:ea typeface="Arial"/>
              <a:cs typeface="Futura Medium" panose="020B0602020204020303" pitchFamily="34" charset="-79"/>
              <a:sym typeface="Arial"/>
            </a:endParaRP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7B2EC1B9-0FBC-2BCC-30BE-696B81FE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Applied Technologies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2A9DE1B6-B7BE-48B3-4EF4-8AFAB4AF62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59D3765E-6920-5C88-7B9F-59300DBD92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4" name="Picture 3" descr="A diagram of a flashcard system&#10;&#10;AI-generated content may be incorrect.">
            <a:extLst>
              <a:ext uri="{FF2B5EF4-FFF2-40B4-BE49-F238E27FC236}">
                <a16:creationId xmlns:a16="http://schemas.microsoft.com/office/drawing/2014/main" id="{F8277D11-FC5B-F2E5-CD8C-CEC7589B3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658" y="6967728"/>
            <a:ext cx="2225492" cy="223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46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6D543-A628-33B4-37BA-A5597EA9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content">
            <a:extLst>
              <a:ext uri="{FF2B5EF4-FFF2-40B4-BE49-F238E27FC236}">
                <a16:creationId xmlns:a16="http://schemas.microsoft.com/office/drawing/2014/main" id="{AF32F191-05E1-1E4C-B8FA-C2ECFDD63D6A}"/>
              </a:ext>
            </a:extLst>
          </p:cNvPr>
          <p:cNvSpPr txBox="1">
            <a:spLocks/>
          </p:cNvSpPr>
          <p:nvPr/>
        </p:nvSpPr>
        <p:spPr>
          <a:xfrm>
            <a:off x="429768" y="7890657"/>
            <a:ext cx="98389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800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1</a:t>
            </a:r>
            <a:endParaRPr lang="en-US" sz="1200" dirty="0">
              <a:solidFill>
                <a:schemeClr val="dk1"/>
              </a:solidFill>
              <a:latin typeface="Futura Medium" panose="020B0602020204020303" pitchFamily="34" charset="-79"/>
              <a:ea typeface="Arial"/>
              <a:cs typeface="Futura Medium" panose="020B0602020204020303" pitchFamily="34" charset="-79"/>
              <a:sym typeface="Arial"/>
            </a:endParaRP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6B959A92-9A08-5FC3-36F9-4DEB88D0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Demo</a:t>
            </a:r>
          </a:p>
        </p:txBody>
      </p:sp>
      <p:pic>
        <p:nvPicPr>
          <p:cNvPr id="5" name="!!pic1">
            <a:extLst>
              <a:ext uri="{FF2B5EF4-FFF2-40B4-BE49-F238E27FC236}">
                <a16:creationId xmlns:a16="http://schemas.microsoft.com/office/drawing/2014/main" id="{38503967-A5F0-6CF8-3C2D-1DCDD8B0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355002" y="1607843"/>
            <a:ext cx="2169586" cy="3623754"/>
          </a:xfrm>
          <a:prstGeom prst="rect">
            <a:avLst/>
          </a:prstGeom>
        </p:spPr>
      </p:pic>
      <p:pic>
        <p:nvPicPr>
          <p:cNvPr id="8" name="!!pic2">
            <a:extLst>
              <a:ext uri="{FF2B5EF4-FFF2-40B4-BE49-F238E27FC236}">
                <a16:creationId xmlns:a16="http://schemas.microsoft.com/office/drawing/2014/main" id="{FC5CDF7C-059F-2765-E13C-8A840F49B4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023403" y="1607843"/>
            <a:ext cx="1931963" cy="5139211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49FE6B02-E1FA-8BAA-888B-419062752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661" y="1426464"/>
            <a:ext cx="7256678" cy="468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357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19DB9-238B-D003-AFF6-CC6AD0DC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0C59CD27-D6FC-C060-A271-06CB1745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Learning achievement</a:t>
            </a:r>
          </a:p>
        </p:txBody>
      </p:sp>
      <p:pic>
        <p:nvPicPr>
          <p:cNvPr id="5" name="!!pic1" descr="OMW Bee">
            <a:extLst>
              <a:ext uri="{FF2B5EF4-FFF2-40B4-BE49-F238E27FC236}">
                <a16:creationId xmlns:a16="http://schemas.microsoft.com/office/drawing/2014/main" id="{620B91E9-1125-635B-F608-D1EAC2ED43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6494" y="1690688"/>
            <a:ext cx="2169586" cy="2169586"/>
          </a:xfrm>
          <a:prstGeom prst="rect">
            <a:avLst/>
          </a:prstGeom>
        </p:spPr>
      </p:pic>
      <p:pic>
        <p:nvPicPr>
          <p:cNvPr id="8" name="!!pic2" descr="High Five Bee">
            <a:extLst>
              <a:ext uri="{FF2B5EF4-FFF2-40B4-BE49-F238E27FC236}">
                <a16:creationId xmlns:a16="http://schemas.microsoft.com/office/drawing/2014/main" id="{063F4196-9764-2FF9-5A33-B1211E456B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305" y="4311335"/>
            <a:ext cx="1931963" cy="1931963"/>
          </a:xfrm>
          <a:prstGeom prst="rect">
            <a:avLst/>
          </a:prstGeom>
        </p:spPr>
      </p:pic>
      <p:sp>
        <p:nvSpPr>
          <p:cNvPr id="11" name="!!content">
            <a:extLst>
              <a:ext uri="{FF2B5EF4-FFF2-40B4-BE49-F238E27FC236}">
                <a16:creationId xmlns:a16="http://schemas.microsoft.com/office/drawing/2014/main" id="{29677A76-46E0-82B5-70DC-96E7C6411AFB}"/>
              </a:ext>
            </a:extLst>
          </p:cNvPr>
          <p:cNvSpPr txBox="1"/>
          <p:nvPr/>
        </p:nvSpPr>
        <p:spPr>
          <a:xfrm>
            <a:off x="3355848" y="1607843"/>
            <a:ext cx="8065008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0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Technical Skills Developed</a:t>
            </a:r>
          </a:p>
          <a:p>
            <a:pPr rtl="0">
              <a:lnSpc>
                <a:spcPct val="150000"/>
              </a:lnSpc>
              <a:buSzPts val="1100"/>
              <a:buFont typeface="Arial" panose="020B0604020202020204" pitchFamily="34" charset="0"/>
              <a:buChar char="●"/>
            </a:pPr>
            <a:r>
              <a:rPr lang="en-US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MVVM Pattern: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Improved separation of concerns, enhancing code maintainability and scalability.</a:t>
            </a:r>
          </a:p>
          <a:p>
            <a:pPr rtl="0">
              <a:lnSpc>
                <a:spcPct val="150000"/>
              </a:lnSpc>
              <a:buSzPts val="1100"/>
              <a:buFont typeface="Arial" panose="020B0604020202020204" pitchFamily="34" charset="0"/>
              <a:buChar char="●"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JUnit Testing: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Strengthened ability to write and execute unit tests for reliable code.</a:t>
            </a:r>
          </a:p>
          <a:p>
            <a:pPr rtl="0">
              <a:lnSpc>
                <a:spcPct val="150000"/>
              </a:lnSpc>
              <a:buSzPts val="1100"/>
              <a:buFont typeface="Arial" panose="020B0604020202020204" pitchFamily="34" charset="0"/>
              <a:buChar char="●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Strengthened ability to design and develop a full-fledged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Java-based application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 rtl="0">
              <a:lnSpc>
                <a:spcPct val="150000"/>
              </a:lnSpc>
              <a:buSzPts val="1100"/>
              <a:buFont typeface="Arial" panose="020B0604020202020204" pitchFamily="34" charset="0"/>
              <a:buChar char="●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Learned the importance of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test-driven development (TDD)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in building robust applications.</a:t>
            </a:r>
          </a:p>
          <a:p>
            <a:pPr rtl="0">
              <a:buSzPts val="1100"/>
              <a:buFont typeface="Arial" panose="020B0604020202020204" pitchFamily="34" charset="0"/>
              <a:buChar char="●"/>
            </a:pPr>
            <a:endParaRPr lang="en-US" sz="2000" b="0" i="0" u="none" strike="noStrike" baseline="0" dirty="0">
              <a:solidFill>
                <a:srgbClr val="00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rtl="0"/>
            <a:r>
              <a:rPr lang="en-US" sz="20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Agile Methodology &amp; Teamwork</a:t>
            </a:r>
            <a:endParaRPr lang="en-US" sz="2000" b="0" i="0" u="none" strike="noStrike" baseline="0" dirty="0">
              <a:solidFill>
                <a:srgbClr val="00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rtl="0">
              <a:lnSpc>
                <a:spcPct val="150000"/>
              </a:lnSpc>
              <a:buSzPts val="1100"/>
              <a:buFont typeface="Arial" panose="020B0604020202020204" pitchFamily="34" charset="0"/>
              <a:buChar char="●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Learned to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prioritize tasks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using Agile principles, ensuring efficiency and adaptability.</a:t>
            </a:r>
          </a:p>
          <a:p>
            <a:pPr rtl="0">
              <a:lnSpc>
                <a:spcPct val="150000"/>
              </a:lnSpc>
              <a:buSzPts val="1100"/>
              <a:buFont typeface="Arial" panose="020B0604020202020204" pitchFamily="34" charset="0"/>
              <a:buChar char="●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Improved communication and collaboration through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regular sprint reviews and retrospectives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 rtl="0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3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B4FD7-AB4F-9314-7DF5-0923E36C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3355ACC4-404A-756A-DA52-089A0B1F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4000" b="1" dirty="0">
                <a:solidFill>
                  <a:srgbClr val="42B900"/>
                </a:solidFill>
                <a:latin typeface="Chalkboard" panose="03050602040202020205" pitchFamily="66" charset="77"/>
              </a:rPr>
              <a:t>Plan for further development</a:t>
            </a:r>
          </a:p>
        </p:txBody>
      </p:sp>
      <p:pic>
        <p:nvPicPr>
          <p:cNvPr id="5" name="!!pic1" descr="OMW Bee">
            <a:extLst>
              <a:ext uri="{FF2B5EF4-FFF2-40B4-BE49-F238E27FC236}">
                <a16:creationId xmlns:a16="http://schemas.microsoft.com/office/drawing/2014/main" id="{DA063A87-9AD1-5ED4-6686-804ED22B97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57678" y="-1702371"/>
            <a:ext cx="1646872" cy="1646872"/>
          </a:xfrm>
          <a:prstGeom prst="rect">
            <a:avLst/>
          </a:prstGeom>
        </p:spPr>
      </p:pic>
      <p:pic>
        <p:nvPicPr>
          <p:cNvPr id="8" name="!!pic2" descr="High Five Bee">
            <a:extLst>
              <a:ext uri="{FF2B5EF4-FFF2-40B4-BE49-F238E27FC236}">
                <a16:creationId xmlns:a16="http://schemas.microsoft.com/office/drawing/2014/main" id="{DE062C73-A60D-050F-3283-F46D42C71F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3886" y="-1931962"/>
            <a:ext cx="1646872" cy="1646872"/>
          </a:xfrm>
          <a:prstGeom prst="rect">
            <a:avLst/>
          </a:prstGeom>
        </p:spPr>
      </p:pic>
      <p:sp>
        <p:nvSpPr>
          <p:cNvPr id="11" name="!!content">
            <a:extLst>
              <a:ext uri="{FF2B5EF4-FFF2-40B4-BE49-F238E27FC236}">
                <a16:creationId xmlns:a16="http://schemas.microsoft.com/office/drawing/2014/main" id="{E0BE6068-04E9-F0A8-D2FC-45F46C3333DA}"/>
              </a:ext>
            </a:extLst>
          </p:cNvPr>
          <p:cNvSpPr txBox="1"/>
          <p:nvPr/>
        </p:nvSpPr>
        <p:spPr>
          <a:xfrm>
            <a:off x="838200" y="1607843"/>
            <a:ext cx="10582656" cy="413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Enhancing Flashcard Intelligence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External API integration: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 refine multiple-choice answer </a:t>
            </a:r>
            <a:r>
              <a:rPr lang="en-US" dirty="0" err="1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quality,intelligent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 flashcard generation.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UI/UX Enhancements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Cross-Platform Support: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 Expand to mobile and web versions for broader accessibility.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Agile Development &amp; User Feedback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Continuous Iterations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: Follow Agile methodology to refine features based on user feedback (User Acceptance Testing).</a:t>
            </a:r>
          </a:p>
        </p:txBody>
      </p:sp>
    </p:spTree>
    <p:extLst>
      <p:ext uri="{BB962C8B-B14F-4D97-AF65-F5344CB8AC3E}">
        <p14:creationId xmlns:p14="http://schemas.microsoft.com/office/powerpoint/2010/main" val="3667373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CFF50-0FB8-5307-216A-0191AE0F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56DE24E3-0C62-C816-6B0D-6C70C1BF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49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FI" sz="6600" b="1" dirty="0">
                <a:solidFill>
                  <a:schemeClr val="accent2">
                    <a:lumMod val="75000"/>
                  </a:schemeClr>
                </a:solidFill>
                <a:latin typeface="Chalkboard" panose="03050602040202020205" pitchFamily="66" charset="77"/>
              </a:rPr>
              <a:t>THANK YOU!</a:t>
            </a:r>
          </a:p>
        </p:txBody>
      </p:sp>
      <p:pic>
        <p:nvPicPr>
          <p:cNvPr id="5" name="!!pic1" descr="OMW Bee">
            <a:extLst>
              <a:ext uri="{FF2B5EF4-FFF2-40B4-BE49-F238E27FC236}">
                <a16:creationId xmlns:a16="http://schemas.microsoft.com/office/drawing/2014/main" id="{EA5F492D-0F41-F394-6911-3BDD78690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6032130">
            <a:off x="10183958" y="7459918"/>
            <a:ext cx="1646872" cy="1646872"/>
          </a:xfrm>
          <a:prstGeom prst="rect">
            <a:avLst/>
          </a:prstGeom>
        </p:spPr>
      </p:pic>
      <p:pic>
        <p:nvPicPr>
          <p:cNvPr id="8" name="!!pic2" descr="Cheers Bee">
            <a:extLst>
              <a:ext uri="{FF2B5EF4-FFF2-40B4-BE49-F238E27FC236}">
                <a16:creationId xmlns:a16="http://schemas.microsoft.com/office/drawing/2014/main" id="{5CE1EDFA-7320-D69A-13B6-7D8D2A5418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9667" y="2685758"/>
            <a:ext cx="2992666" cy="2992666"/>
          </a:xfrm>
          <a:prstGeom prst="rect">
            <a:avLst/>
          </a:prstGeom>
        </p:spPr>
      </p:pic>
      <p:sp>
        <p:nvSpPr>
          <p:cNvPr id="11" name="!!content">
            <a:extLst>
              <a:ext uri="{FF2B5EF4-FFF2-40B4-BE49-F238E27FC236}">
                <a16:creationId xmlns:a16="http://schemas.microsoft.com/office/drawing/2014/main" id="{8CF475C8-01D3-A219-F885-61507F73036F}"/>
              </a:ext>
            </a:extLst>
          </p:cNvPr>
          <p:cNvSpPr txBox="1"/>
          <p:nvPr/>
        </p:nvSpPr>
        <p:spPr>
          <a:xfrm rot="7350456">
            <a:off x="10960179" y="5590160"/>
            <a:ext cx="3243406" cy="981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Enhancing Flashcard Intelligence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External API integration: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 refine multiple-choice answer </a:t>
            </a:r>
            <a:r>
              <a:rPr lang="en-US" dirty="0" err="1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quality,intelligent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 flashcard generation.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UI/UX Enhancements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Cross-Platform Support: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 Expand to mobile and web versions for broader accessibility.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Agile Development &amp; User Feedback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b="1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Continuous Iterations</a:t>
            </a:r>
            <a:r>
              <a:rPr lang="en-US" dirty="0">
                <a:solidFill>
                  <a:schemeClr val="dk1"/>
                </a:solidFill>
                <a:latin typeface="Futura Medium" panose="020B0602020204020303" pitchFamily="34" charset="-79"/>
                <a:ea typeface="Arial"/>
                <a:cs typeface="Futura Medium" panose="020B0602020204020303" pitchFamily="34" charset="-79"/>
                <a:sym typeface="Arial"/>
              </a:rPr>
              <a:t>: Follow Agile methodology to refine features based on user feedback (User Acceptance Testing).</a:t>
            </a:r>
          </a:p>
        </p:txBody>
      </p:sp>
    </p:spTree>
    <p:extLst>
      <p:ext uri="{BB962C8B-B14F-4D97-AF65-F5344CB8AC3E}">
        <p14:creationId xmlns:p14="http://schemas.microsoft.com/office/powerpoint/2010/main" val="4061935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486</Words>
  <Application>Microsoft Macintosh PowerPoint</Application>
  <PresentationFormat>Widescreen</PresentationFormat>
  <Paragraphs>99</Paragraphs>
  <Slides>21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Chalkboard</vt:lpstr>
      <vt:lpstr>Futura Medium</vt:lpstr>
      <vt:lpstr>Futura Medium</vt:lpstr>
      <vt:lpstr>Office Theme</vt:lpstr>
      <vt:lpstr>PowerPoint Presentation</vt:lpstr>
      <vt:lpstr>SuperFlash</vt:lpstr>
      <vt:lpstr>Applied AI, GitHub, and Trello</vt:lpstr>
      <vt:lpstr>Product Backlog</vt:lpstr>
      <vt:lpstr>Sprint 1</vt:lpstr>
      <vt:lpstr>Sprint 2</vt:lpstr>
      <vt:lpstr>Sprint 3</vt:lpstr>
      <vt:lpstr>Sprint 4</vt:lpstr>
      <vt:lpstr>Architectural Design</vt:lpstr>
      <vt:lpstr>ER Diagram</vt:lpstr>
      <vt:lpstr>Database Schema</vt:lpstr>
      <vt:lpstr>Use case Diagram</vt:lpstr>
      <vt:lpstr>Package Diagram</vt:lpstr>
      <vt:lpstr>Class Diagram</vt:lpstr>
      <vt:lpstr>Activity Diagram</vt:lpstr>
      <vt:lpstr>Sequence Diagram</vt:lpstr>
      <vt:lpstr>Applied Technologies</vt:lpstr>
      <vt:lpstr>Demo</vt:lpstr>
      <vt:lpstr>Learning achievement</vt:lpstr>
      <vt:lpstr>Plan for further development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Tran-Do</dc:creator>
  <cp:lastModifiedBy>Kim Tran-Do</cp:lastModifiedBy>
  <cp:revision>7</cp:revision>
  <dcterms:created xsi:type="dcterms:W3CDTF">2025-03-09T09:14:12Z</dcterms:created>
  <dcterms:modified xsi:type="dcterms:W3CDTF">2025-03-11T15:16:33Z</dcterms:modified>
</cp:coreProperties>
</file>