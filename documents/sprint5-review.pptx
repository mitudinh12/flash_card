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FEE0"/>
    <a:srgbClr val="ADFDC2"/>
    <a:srgbClr val="91F9AA"/>
    <a:srgbClr val="0CCD1A"/>
    <a:srgbClr val="F696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719"/>
  </p:normalViewPr>
  <p:slideViewPr>
    <p:cSldViewPr snapToGrid="0">
      <p:cViewPr varScale="1">
        <p:scale>
          <a:sx n="78" d="100"/>
          <a:sy n="78" d="100"/>
        </p:scale>
        <p:origin x="9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13DE-5E1C-1590-D32C-337F9B41E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849F4-B981-4992-D1C0-AA0733C6C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2C39E-A3CC-A0CD-803E-D8E60228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E707D-BD13-7FD1-AAEB-37E21640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AEA6E-A13F-D573-A466-E44E5BE6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7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C8ED-0E4F-6479-3E09-C1D1025D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9417C-DDB8-9B64-4391-6BF9A5BBB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69D88-FE7E-A7FC-9B56-3D71BE488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96CE3-E36D-0D81-E84B-7DDCEA5A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6DFBB-9371-CD22-952A-646F0147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28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2A35-5DDE-55ED-23C3-5EA9A939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32928-58AD-2968-DD18-AA320EA73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BCCB0-3DB1-AA57-EE22-02B7C0AE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5F41A-6DB4-E264-3DB0-35AB2585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33038-7198-C753-01C3-3EC905421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9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3400-9AD5-CA1A-A778-2F15E08A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4D58E-A63E-7D6F-520B-2DDD68E0B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F38AB-D064-4E9B-07C0-542F2283F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07BF1-7547-84D3-CCC2-C619E4F3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1BE81-927C-80A1-FC8A-1E0E9E147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2A9BB-66F8-06CB-F971-34CE7936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33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562A6-53DB-15EF-DBC5-17C42F62A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23D28-AE2E-2327-09A4-C812C2892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0892A-EB28-44AD-24A1-2C42822A7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CD65E-D373-3D38-120E-CC563302E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18E1A-6903-E99E-BC78-0F94D96B9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112A21-3DDB-232C-1772-3872D5A2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2A5F4-8437-DBBE-C068-31B0190F4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602FEE-BC9C-B11F-6286-1D6FFFCD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45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8C20-3AF9-6BE1-FBBD-EAE117D48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AD738B-25C7-0E6A-E4DF-64A7C978B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A1484-28CE-F4F4-9C56-A137C018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077D-7B0E-A655-8038-8B9EFF90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2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E0AEA-2248-EDD3-9D19-0B7EF331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F4E59-3068-733C-B83A-AC97253F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FC972-04FC-7AAA-36B8-8D425FED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5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E90C-CF0C-536A-0B3C-F9CACE7CF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CF250-FA58-23B0-DFBF-BF9707C31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DB33D-93D9-5642-8A91-A8298FCFA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0207C-B1B9-9E1A-481A-247A2A82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BF4DB-4114-8980-1CC6-1BBA33F5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BE012-AD06-714E-9A92-6FB20AA2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33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EDF3-8457-B1A6-2E85-DF42DD1D4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EB62BC-367A-A27D-6329-D864E24A0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5A5D3-2B39-3E67-2571-D8AC39AE3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17F05-486B-FFA9-013D-5B177AF1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923A6-FE3E-4ABC-FA39-DD4DDB871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07386-A0E9-3EDF-0B54-9BA35592A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2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5BCF-6CD5-A8D1-FE29-60F18EAB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F11E8-FDE5-2C7C-F0B7-58577CD15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D8089-34B3-4FFC-8495-127005064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CFFE7-44D0-5125-4F61-55F61B0B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28865-B087-3D58-E591-26693730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2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CB3F12-3161-C645-CFD1-D84449308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FC9EE-29E3-019A-C89E-C964B3838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609DA-5202-0CD6-F23F-C9414DFF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CCF56-C256-D887-F9CF-17B4539E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49E41-2167-0E9E-D5E7-183AB032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4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4323A2-038F-18E6-EEDC-84AC24A5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C956D-2FE5-0292-D92D-E39AD4961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ABC30-3224-AAAB-C314-44E202F96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80203-AEC0-47E3-A0C8-9A181570B38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88B4C-EF95-6940-FFB4-AE1F887DA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28CF4-73B8-5EDE-94CD-B8AFD16DB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9E055-6297-446A-9E56-D30526DE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5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UyulZf55aVbBEAqxGsBp-YLiWqaXEMzocWvSpmgBlCE/edit?gid=0#gid=0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een circle with white dots&#10;&#10;AI-generated content may be incorrect.">
            <a:extLst>
              <a:ext uri="{FF2B5EF4-FFF2-40B4-BE49-F238E27FC236}">
                <a16:creationId xmlns:a16="http://schemas.microsoft.com/office/drawing/2014/main" id="{994099B6-4555-A7B7-586D-1D3D6A3FA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" t="9091" r="3516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1B85C4-3245-2FE3-383E-3D0F68FA4938}"/>
              </a:ext>
            </a:extLst>
          </p:cNvPr>
          <p:cNvSpPr txBox="1"/>
          <p:nvPr/>
        </p:nvSpPr>
        <p:spPr>
          <a:xfrm>
            <a:off x="477981" y="2749991"/>
            <a:ext cx="4023360" cy="15765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latin typeface="+mj-lt"/>
                <a:ea typeface="+mj-ea"/>
                <a:cs typeface="+mj-cs"/>
              </a:rPr>
              <a:t>SPRINT 5 REVIEW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71F79-8DF4-6D44-5B27-3A7D78251BF4}"/>
              </a:ext>
            </a:extLst>
          </p:cNvPr>
          <p:cNvSpPr txBox="1"/>
          <p:nvPr/>
        </p:nvSpPr>
        <p:spPr>
          <a:xfrm>
            <a:off x="403123" y="1022555"/>
            <a:ext cx="52897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CC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Flash</a:t>
            </a:r>
          </a:p>
          <a:p>
            <a:r>
              <a:rPr lang="en-US" sz="2400" b="1" dirty="0">
                <a:solidFill>
                  <a:srgbClr val="0CC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flashcard system for study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D6B17C-625F-24B5-D78F-584A9D529F3A}"/>
              </a:ext>
            </a:extLst>
          </p:cNvPr>
          <p:cNvSpPr txBox="1"/>
          <p:nvPr/>
        </p:nvSpPr>
        <p:spPr>
          <a:xfrm>
            <a:off x="477981" y="4785631"/>
            <a:ext cx="4023360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Scrum Master: Nhi Dinh</a:t>
            </a:r>
            <a:br>
              <a:rPr lang="en-US" dirty="0"/>
            </a:br>
            <a:r>
              <a:rPr lang="en-US" dirty="0"/>
              <a:t>Team members: Nhi Dinh, Tu Dinh, Kim Tran</a:t>
            </a:r>
          </a:p>
        </p:txBody>
      </p:sp>
    </p:spTree>
    <p:extLst>
      <p:ext uri="{BB962C8B-B14F-4D97-AF65-F5344CB8AC3E}">
        <p14:creationId xmlns:p14="http://schemas.microsoft.com/office/powerpoint/2010/main" val="3577480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07D0C-640B-467A-CBE6-28C8CA9D7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BA918C-F522-0309-01EB-12DB96D1E9F6}"/>
              </a:ext>
            </a:extLst>
          </p:cNvPr>
          <p:cNvSpPr/>
          <p:nvPr/>
        </p:nvSpPr>
        <p:spPr>
          <a:xfrm>
            <a:off x="-2" y="-34218"/>
            <a:ext cx="12191999" cy="6892218"/>
          </a:xfrm>
          <a:prstGeom prst="rect">
            <a:avLst/>
          </a:prstGeom>
          <a:solidFill>
            <a:srgbClr val="ADFD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CD1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1F360-EB20-5DF7-DBA4-4A62A09AFAD6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C3084A-75A3-3E52-C06E-F7AB89430A8A}"/>
              </a:ext>
            </a:extLst>
          </p:cNvPr>
          <p:cNvSpPr txBox="1"/>
          <p:nvPr/>
        </p:nvSpPr>
        <p:spPr>
          <a:xfrm>
            <a:off x="0" y="-34219"/>
            <a:ext cx="12191998" cy="1224000"/>
          </a:xfrm>
          <a:prstGeom prst="rect">
            <a:avLst/>
          </a:prstGeom>
          <a:solidFill>
            <a:srgbClr val="0CCD1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557CA-71EF-CB9C-5B5F-1A79629EE790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1F47F2-6D89-C489-2EA7-9F1F7E37132C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5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3E1C3E-D10E-DE26-30E9-0BE1ADA74B12}"/>
              </a:ext>
            </a:extLst>
          </p:cNvPr>
          <p:cNvCxnSpPr/>
          <p:nvPr/>
        </p:nvCxnSpPr>
        <p:spPr>
          <a:xfrm>
            <a:off x="6194323" y="2074606"/>
            <a:ext cx="0" cy="36870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A91468-7AF8-DBA7-F7CC-4FD5B5D14C85}"/>
              </a:ext>
            </a:extLst>
          </p:cNvPr>
          <p:cNvSpPr txBox="1"/>
          <p:nvPr/>
        </p:nvSpPr>
        <p:spPr>
          <a:xfrm>
            <a:off x="0" y="1543665"/>
            <a:ext cx="6194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Objectives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9AF160-1786-1C6A-F23F-FBAAAEA14D82}"/>
              </a:ext>
            </a:extLst>
          </p:cNvPr>
          <p:cNvSpPr txBox="1"/>
          <p:nvPr/>
        </p:nvSpPr>
        <p:spPr>
          <a:xfrm>
            <a:off x="6194323" y="1543665"/>
            <a:ext cx="5997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Deliverables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115F52-CD31-B00C-20E8-2CB27925FA13}"/>
              </a:ext>
            </a:extLst>
          </p:cNvPr>
          <p:cNvSpPr/>
          <p:nvPr/>
        </p:nvSpPr>
        <p:spPr>
          <a:xfrm>
            <a:off x="432619" y="2153265"/>
            <a:ext cx="5319252" cy="3608438"/>
          </a:xfrm>
          <a:prstGeom prst="rect">
            <a:avLst/>
          </a:prstGeom>
          <a:solidFill>
            <a:schemeClr val="bg1"/>
          </a:solidFill>
          <a:ln>
            <a:solidFill>
              <a:srgbClr val="D6FEE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047F71-89D7-B178-A1EE-FC664EBED62C}"/>
              </a:ext>
            </a:extLst>
          </p:cNvPr>
          <p:cNvSpPr txBox="1"/>
          <p:nvPr/>
        </p:nvSpPr>
        <p:spPr>
          <a:xfrm>
            <a:off x="678431" y="2438400"/>
            <a:ext cx="49652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This sprint focused on:</a:t>
            </a:r>
          </a:p>
          <a:p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Preparing our application for localization, both in the user interface and database layers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Updating our product backlog accordingly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Localizing UI Interface of main pages</a:t>
            </a:r>
          </a:p>
          <a:p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9CC05F-7D0C-F10A-C3AF-7CD5657D623D}"/>
              </a:ext>
            </a:extLst>
          </p:cNvPr>
          <p:cNvSpPr/>
          <p:nvPr/>
        </p:nvSpPr>
        <p:spPr>
          <a:xfrm>
            <a:off x="6626944" y="2119745"/>
            <a:ext cx="5319252" cy="3608438"/>
          </a:xfrm>
          <a:prstGeom prst="rect">
            <a:avLst/>
          </a:prstGeom>
          <a:solidFill>
            <a:schemeClr val="bg1"/>
          </a:solidFill>
          <a:ln>
            <a:solidFill>
              <a:srgbClr val="D6FEE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884E17-1259-1438-07E5-EDCC2120C3CD}"/>
              </a:ext>
            </a:extLst>
          </p:cNvPr>
          <p:cNvSpPr txBox="1"/>
          <p:nvPr/>
        </p:nvSpPr>
        <p:spPr>
          <a:xfrm>
            <a:off x="6833419" y="2438400"/>
            <a:ext cx="4925962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Product backlog updated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Localization resources identified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Translation Tracking Document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UI prepared for localization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Database supports multilingual content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Language selection feature added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UI localization completed for all main pages</a:t>
            </a:r>
          </a:p>
        </p:txBody>
      </p:sp>
    </p:spTree>
    <p:extLst>
      <p:ext uri="{BB962C8B-B14F-4D97-AF65-F5344CB8AC3E}">
        <p14:creationId xmlns:p14="http://schemas.microsoft.com/office/powerpoint/2010/main" val="2649061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2B42-B830-1EB6-8702-62D641353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BCDB9-7393-825E-98CA-ACB6C9248598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ADFD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CD1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E1828C-BBBC-7003-1996-A19A17049A12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AABE8-0BF4-5821-F86C-658AA3C03065}"/>
              </a:ext>
            </a:extLst>
          </p:cNvPr>
          <p:cNvSpPr txBox="1"/>
          <p:nvPr/>
        </p:nvSpPr>
        <p:spPr>
          <a:xfrm>
            <a:off x="0" y="-34219"/>
            <a:ext cx="12191998" cy="1224000"/>
          </a:xfrm>
          <a:prstGeom prst="rect">
            <a:avLst/>
          </a:prstGeom>
          <a:solidFill>
            <a:srgbClr val="0CCD1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3E0882-A0D1-1682-4991-97D1A33D58D0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68535C-3325-426F-31A0-05408FD5F4D1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5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7DE959-EE90-3275-D9D1-D1F9F96F5E08}"/>
              </a:ext>
            </a:extLst>
          </p:cNvPr>
          <p:cNvSpPr txBox="1"/>
          <p:nvPr/>
        </p:nvSpPr>
        <p:spPr>
          <a:xfrm>
            <a:off x="0" y="1465006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Database Localization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9C3ABE-C4BE-DF28-BC54-E75DF074EFCF}"/>
              </a:ext>
            </a:extLst>
          </p:cNvPr>
          <p:cNvSpPr/>
          <p:nvPr/>
        </p:nvSpPr>
        <p:spPr>
          <a:xfrm>
            <a:off x="462116" y="1730477"/>
            <a:ext cx="6331974" cy="1258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77E7E-A24F-5284-4EDB-6B866AEC9934}"/>
              </a:ext>
            </a:extLst>
          </p:cNvPr>
          <p:cNvSpPr txBox="1"/>
          <p:nvPr/>
        </p:nvSpPr>
        <p:spPr>
          <a:xfrm>
            <a:off x="560439" y="3028336"/>
            <a:ext cx="5299587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field language in FlashcardSets table</a:t>
            </a:r>
          </a:p>
        </p:txBody>
      </p:sp>
      <p:pic>
        <p:nvPicPr>
          <p:cNvPr id="10" name="Picture 9" descr="A diagram of a language">
            <a:extLst>
              <a:ext uri="{FF2B5EF4-FFF2-40B4-BE49-F238E27FC236}">
                <a16:creationId xmlns:a16="http://schemas.microsoft.com/office/drawing/2014/main" id="{4D0ACCA2-C936-4255-6DDA-03BC7C737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113" y="2015420"/>
            <a:ext cx="4276868" cy="434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17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D444F-92F6-9239-B117-DF8D5CB0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0E3DC4-2E19-DAFB-0E84-B5E3B5663D7E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ADFD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CD1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15B19F-7F10-C04B-19D3-EA69D1C0821C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5CA95-0AB4-01CF-B7A7-9B3A0F99B427}"/>
              </a:ext>
            </a:extLst>
          </p:cNvPr>
          <p:cNvSpPr txBox="1"/>
          <p:nvPr/>
        </p:nvSpPr>
        <p:spPr>
          <a:xfrm>
            <a:off x="0" y="-34219"/>
            <a:ext cx="12191998" cy="1224000"/>
          </a:xfrm>
          <a:prstGeom prst="rect">
            <a:avLst/>
          </a:prstGeom>
          <a:solidFill>
            <a:srgbClr val="0CCD1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1397EE-1471-6398-7B75-D03DCA6E9DCE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E1090D-099B-465F-FE51-B63351B63C9D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5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F437E1-D36A-F2F2-BEC4-7CE45F5B30FA}"/>
              </a:ext>
            </a:extLst>
          </p:cNvPr>
          <p:cNvSpPr txBox="1"/>
          <p:nvPr/>
        </p:nvSpPr>
        <p:spPr>
          <a:xfrm>
            <a:off x="-1" y="1287157"/>
            <a:ext cx="12192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Individual Contributions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6D75FB-22DF-7AFD-52DF-AAD9403A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015634"/>
              </p:ext>
            </p:extLst>
          </p:nvPr>
        </p:nvGraphicFramePr>
        <p:xfrm>
          <a:off x="745434" y="2010304"/>
          <a:ext cx="10701129" cy="3798765"/>
        </p:xfrm>
        <a:graphic>
          <a:graphicData uri="http://schemas.openxmlformats.org/drawingml/2006/table">
            <a:tbl>
              <a:tblPr/>
              <a:tblGrid>
                <a:gridCol w="4899992">
                  <a:extLst>
                    <a:ext uri="{9D8B030D-6E8A-4147-A177-3AD203B41FA5}">
                      <a16:colId xmlns:a16="http://schemas.microsoft.com/office/drawing/2014/main" val="1871642916"/>
                    </a:ext>
                  </a:extLst>
                </a:gridCol>
                <a:gridCol w="2892287">
                  <a:extLst>
                    <a:ext uri="{9D8B030D-6E8A-4147-A177-3AD203B41FA5}">
                      <a16:colId xmlns:a16="http://schemas.microsoft.com/office/drawing/2014/main" val="2385426566"/>
                    </a:ext>
                  </a:extLst>
                </a:gridCol>
                <a:gridCol w="2908850">
                  <a:extLst>
                    <a:ext uri="{9D8B030D-6E8A-4147-A177-3AD203B41FA5}">
                      <a16:colId xmlns:a16="http://schemas.microsoft.com/office/drawing/2014/main" val="1326219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/>
                        <a:t>Tasks Assigned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/>
                        <a:t>Team Member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/>
                        <a:t>Time Spent (hrs)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484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Update product Backlog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Nhi Dinh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54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Identify Translatable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Tu Dinh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40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Set up Resource Bundles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Kim Tran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651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Set up Localization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Nhi Dinh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01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DB schema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Nhi Dinh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85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Implement Choose Preferred Language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Kim Tran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09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UI localization for main 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Nhi Dinh, Tu Dinh, Kim Tran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099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Sprint planning and sprint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Nhi Dinh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511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56B857B-BF8A-5F55-4EA9-EB5A2FC4B29C}"/>
              </a:ext>
            </a:extLst>
          </p:cNvPr>
          <p:cNvSpPr txBox="1"/>
          <p:nvPr/>
        </p:nvSpPr>
        <p:spPr>
          <a:xfrm>
            <a:off x="0" y="599530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Nhi Dinh: 31h	Tu Dinh: 27h	Kim Tran: 29h</a:t>
            </a:r>
          </a:p>
        </p:txBody>
      </p:sp>
    </p:spTree>
    <p:extLst>
      <p:ext uri="{BB962C8B-B14F-4D97-AF65-F5344CB8AC3E}">
        <p14:creationId xmlns:p14="http://schemas.microsoft.com/office/powerpoint/2010/main" val="36185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7AA31-6E9B-4D71-B8B4-56E54175D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2D036D-D634-524F-75B7-9F37059AF90E}"/>
              </a:ext>
            </a:extLst>
          </p:cNvPr>
          <p:cNvSpPr/>
          <p:nvPr/>
        </p:nvSpPr>
        <p:spPr>
          <a:xfrm>
            <a:off x="-2" y="-34218"/>
            <a:ext cx="12191999" cy="6892218"/>
          </a:xfrm>
          <a:prstGeom prst="rect">
            <a:avLst/>
          </a:prstGeom>
          <a:solidFill>
            <a:srgbClr val="ADFD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C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01466B-56CD-B5F2-BA37-25932DC91FB5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F612C-4762-CDA6-AF10-3C9E6CBF7A82}"/>
              </a:ext>
            </a:extLst>
          </p:cNvPr>
          <p:cNvSpPr txBox="1"/>
          <p:nvPr/>
        </p:nvSpPr>
        <p:spPr>
          <a:xfrm>
            <a:off x="0" y="-34219"/>
            <a:ext cx="12191998" cy="1224000"/>
          </a:xfrm>
          <a:prstGeom prst="rect">
            <a:avLst/>
          </a:prstGeom>
          <a:solidFill>
            <a:srgbClr val="0CCD1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FDE635-1EB3-097D-1CFC-DFC69259A12F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A8F31D-B051-ED2F-5A28-A806AC54D841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5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E88FDE-68FE-FD59-5A35-4D04564DABEA}"/>
              </a:ext>
            </a:extLst>
          </p:cNvPr>
          <p:cNvSpPr txBox="1"/>
          <p:nvPr/>
        </p:nvSpPr>
        <p:spPr>
          <a:xfrm>
            <a:off x="-3" y="1439568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Sprint 6 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BDB45-64C3-184A-3B37-5F13906D5F90}"/>
              </a:ext>
            </a:extLst>
          </p:cNvPr>
          <p:cNvSpPr txBox="1"/>
          <p:nvPr/>
        </p:nvSpPr>
        <p:spPr>
          <a:xfrm>
            <a:off x="1665282" y="1935002"/>
            <a:ext cx="9530029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Codebase Updates &amp; Refactoring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Modify database schema to follow the new localization structure.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Update codebase to support localized database queries.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Unit &amp; Integration Testing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Modify and update unit tests to align with the new database structure.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Run integration tests to ensure UI localization works correctly.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UI/UX Finalization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Final review of UI localization for consistency across all languages.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Fix any remaining UI/UX bugs related to localization.</a:t>
            </a:r>
          </a:p>
        </p:txBody>
      </p:sp>
    </p:spTree>
    <p:extLst>
      <p:ext uri="{BB962C8B-B14F-4D97-AF65-F5344CB8AC3E}">
        <p14:creationId xmlns:p14="http://schemas.microsoft.com/office/powerpoint/2010/main" val="344893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324</Words>
  <Application>Microsoft Office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Nhi Dinh</dc:creator>
  <cp:lastModifiedBy>Nhi Dinh</cp:lastModifiedBy>
  <cp:revision>6</cp:revision>
  <dcterms:created xsi:type="dcterms:W3CDTF">2025-03-31T09:43:52Z</dcterms:created>
  <dcterms:modified xsi:type="dcterms:W3CDTF">2025-04-04T10:09:40Z</dcterms:modified>
</cp:coreProperties>
</file>