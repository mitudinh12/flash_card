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9" r:id="rId3"/>
    <p:sldId id="259" r:id="rId4"/>
    <p:sldId id="268" r:id="rId5"/>
    <p:sldId id="263" r:id="rId6"/>
    <p:sldId id="270" r:id="rId7"/>
    <p:sldId id="265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F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0"/>
    <p:restoredTop sz="94830"/>
  </p:normalViewPr>
  <p:slideViewPr>
    <p:cSldViewPr snapToGrid="0">
      <p:cViewPr varScale="1">
        <p:scale>
          <a:sx n="121" d="100"/>
          <a:sy n="121" d="100"/>
        </p:scale>
        <p:origin x="9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4B39D-E1A7-E949-9DDE-352003C2C446}" type="datetimeFigureOut">
              <a:rPr lang="en-FI" smtClean="0"/>
              <a:t>4.3.2025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58B22-A0BF-3649-8747-D5C724EB8C4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6865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8B22-A0BF-3649-8747-D5C724EB8C4C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32744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531C-9402-1A11-221D-475795F3F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406A-E1F6-EB37-124D-B760C705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E6F97-DF8F-9E9C-7FE6-9C9A2B06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48647-7A80-3615-9789-CA3CED03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32360-B9F2-F639-8026-E00FDC0A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B307-FCF9-C56D-2121-88D4301F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147E0-62C8-1DC1-53D4-F80AFA5CC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5385C-4CB5-F81B-8AEC-C6F27EFD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7E3F8-BE9C-3674-0021-F07087FF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26550-A9DE-5BAB-F1B9-BE6195A6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87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90C5A-2EF9-822F-5D2E-CA145712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9A654-03B2-08D5-9704-C276C18E9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8FD00-DDB2-707B-5E22-CBA3ABF4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CF473-055A-84EE-CEA4-DDD5E8C8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37DE0-D7BD-A7A9-FABC-F88C79FE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1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1B1-2AD4-D1FC-2C88-84F65F15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17637-E7C3-2086-BAAC-8FCCC6E37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3F8D7-F52B-2F80-2727-D307FE47B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5DB2F-5C6E-5C04-BD4E-79224763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12E6B-B397-3323-28C1-AD55F9E3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88AAE-16C6-7459-8DCB-FFB86E69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7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6E7D-2979-ED6C-755B-863C785F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15B10-A8CA-0515-AA6B-882F19D00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99C20-85D2-7602-9C37-8B7E38991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29294-2596-5AA9-ABDD-48D647984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5AC01-35EE-79C7-7460-499376E30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DAF3F-0556-E671-E63D-D9FCB9F3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1D8C8-120B-A602-7738-C3E43E78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53697-3A41-51A5-F7BC-FF40E5AD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0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B53C-44D3-245C-CF4C-52DFCFF1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779F1-6B4E-36D6-4D31-0391DEF3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987DB-DC8E-CD2B-87A3-AD29EAE9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0E0A0-A42A-EDE9-A6F9-C1F9CB7A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AA7EA-11D5-1AFD-0B9A-6C0C3747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94D79-8747-FE0C-13D5-E8EEDD74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3DEB3-A1F3-9C81-BC98-FED03CEE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57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CC95-4C5B-7052-3AA3-035C6C13C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5B6FB-C4A9-4F90-9D8E-82CD9F92A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C60D9-5B99-3415-D460-ADF4B298B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A2C42-EE57-FBDD-C3E2-D725EA81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49127-71E3-498C-D6A4-55FC4FB5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477DB-A771-23F6-A5B2-2F227CDC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3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F082-973B-BD1D-26EA-D1EB3953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6BE3A-E11D-0B14-D4CE-08787CB7F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A7426-6AD0-393D-7F43-D1A3F4DE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CBC7F-2C59-C383-7611-363B2CE2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2FFD8-F01C-7980-CE01-43692DEE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839CB-EDF5-E97E-C60C-0D506BC6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244A-D48A-7132-941B-04B9D5DC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E90BF-0AAC-3D64-ADDB-000FCC165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122A4-762B-AF3B-2637-187F6977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E3E5-A1DF-0BFE-7177-EA08B4A1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7CCF-1BE8-EF91-BF61-DFD5964E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CF329-817F-E8AE-8727-4071159A2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48E5F-E9AE-988C-0534-2F3DEB729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594CD-927A-DAB0-9C9F-5C50BF31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1B793-44A0-A795-CA37-3458D0D7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06F5-ED0D-DA05-08A5-2FDC8604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1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1EBD2-0A84-906B-5617-27C9C2E5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91DB7-C1DA-1517-7A29-90D943796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C254E-B00D-6EDF-BE37-5B1C11CBB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2F13B-D218-4B2C-9EC2-1CC23AE57812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1259-E6F1-82CD-0ED8-30A827712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DA4B8-684A-B128-1C48-25283F5B3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7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7A87-46E7-D652-2A09-1D010786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B889C7-6795-5C8C-CC18-88CE67A34274}"/>
              </a:ext>
            </a:extLst>
          </p:cNvPr>
          <p:cNvSpPr/>
          <p:nvPr/>
        </p:nvSpPr>
        <p:spPr>
          <a:xfrm>
            <a:off x="0" y="212296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5482B-4FDD-768A-0156-C46FCF62B83A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86EAF3-E0EA-1C86-FFE6-38BBFCDCB1E7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B0D13-0908-A71F-94D9-B0F7F646F46A}"/>
              </a:ext>
            </a:extLst>
          </p:cNvPr>
          <p:cNvSpPr txBox="1"/>
          <p:nvPr/>
        </p:nvSpPr>
        <p:spPr>
          <a:xfrm>
            <a:off x="0" y="62059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A4F94-3BC5-DC58-3C27-719362D36E7C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3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284CD-AD46-BD0D-CD3F-61F711390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03" y="1567505"/>
            <a:ext cx="7611667" cy="49107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F78577-772E-4107-A977-6BEE42C889CB}"/>
              </a:ext>
            </a:extLst>
          </p:cNvPr>
          <p:cNvSpPr txBox="1"/>
          <p:nvPr/>
        </p:nvSpPr>
        <p:spPr>
          <a:xfrm>
            <a:off x="8878529" y="2657294"/>
            <a:ext cx="257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85E24-76B3-3696-92B4-802C8D5BD03F}"/>
              </a:ext>
            </a:extLst>
          </p:cNvPr>
          <p:cNvSpPr txBox="1"/>
          <p:nvPr/>
        </p:nvSpPr>
        <p:spPr>
          <a:xfrm>
            <a:off x="8878529" y="3100560"/>
            <a:ext cx="1612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Nhi Dinh</a:t>
            </a:r>
          </a:p>
          <a:p>
            <a:r>
              <a:rPr lang="en-US" dirty="0"/>
              <a:t>Tu Dinh</a:t>
            </a:r>
          </a:p>
          <a:p>
            <a:r>
              <a:rPr lang="en-US" dirty="0"/>
              <a:t>Kim Tran-Do</a:t>
            </a:r>
          </a:p>
        </p:txBody>
      </p:sp>
    </p:spTree>
    <p:extLst>
      <p:ext uri="{BB962C8B-B14F-4D97-AF65-F5344CB8AC3E}">
        <p14:creationId xmlns:p14="http://schemas.microsoft.com/office/powerpoint/2010/main" val="414706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4520C-F656-43B0-6D93-2F66D740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FFAE66-DED5-00B6-A754-71E293CC390D}"/>
              </a:ext>
            </a:extLst>
          </p:cNvPr>
          <p:cNvSpPr/>
          <p:nvPr/>
        </p:nvSpPr>
        <p:spPr>
          <a:xfrm>
            <a:off x="0" y="212296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3D2E53-EEDC-959B-4DB6-5D77FFDFEFC5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1E217B-BEE2-8381-D8BE-0F654BEA5870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17FC6-60A4-AAAA-BEAB-A934A0DEF903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Flash - Online Flashcard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799EC0-1FB9-5B9F-01C7-6D40D1434ECB}"/>
              </a:ext>
            </a:extLst>
          </p:cNvPr>
          <p:cNvSpPr txBox="1"/>
          <p:nvPr/>
        </p:nvSpPr>
        <p:spPr>
          <a:xfrm>
            <a:off x="1425844" y="73796"/>
            <a:ext cx="9469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3 – Tasks breakdown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7220A-CE9A-0FFF-F2C1-DE10CEAA0EDB}"/>
              </a:ext>
            </a:extLst>
          </p:cNvPr>
          <p:cNvSpPr txBox="1"/>
          <p:nvPr/>
        </p:nvSpPr>
        <p:spPr>
          <a:xfrm>
            <a:off x="807203" y="1436296"/>
            <a:ext cx="11079997" cy="610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Study and Review Module (Kim)</a:t>
            </a: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Implement flip, shuffle, reset, difficulty classification and display result</a:t>
            </a:r>
            <a:endParaRPr lang="en-GB" sz="1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Quiz Module (Tu)</a:t>
            </a: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Generate quizzes, verify answers and display result</a:t>
            </a:r>
            <a:endParaRPr lang="en-GB" sz="14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Teacher Module (Nhi):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Teacher’s Main Page: Display list of classes, navigation to Teacher’s Class Detail Page and Edit Class Page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lang="en-GB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Teacher’s Class Detail Page: Display list </a:t>
            </a: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of assigned flashcard sets and students, implement add/remove Student and assign/remove Flashcard Functionality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Create and Edit Class Page: Implement create and edit class functionality</a:t>
            </a:r>
            <a:endParaRPr lang="en-GB" sz="14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Student Module (Tu &amp; Kim)</a:t>
            </a: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Student’s Class Page: Display list of attended classes, navigation to Student’s Class Detail Page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  <a:t>Student’s Class Detail Page: Display all added flashcard sets of the class, navigation to Study/Quiz for each set</a:t>
            </a:r>
            <a:endParaRPr lang="en-GB" sz="14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Jenkins and Docker Deployment (Nhi)</a:t>
            </a: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742950" lvl="1" indent="-285750" fontAlgn="base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1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lang="en-GB" sz="140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Jenkinsfile</a:t>
            </a:r>
            <a:r>
              <a:rPr lang="en-GB" sz="1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n-GB" sz="140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Dockerfile</a:t>
            </a:r>
            <a:r>
              <a:rPr lang="en-GB" sz="14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for Super Flash project</a:t>
            </a:r>
            <a:endParaRPr lang="en-GB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Unit Testing and Test Coverage (Everyone):</a:t>
            </a: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fontAlgn="base">
              <a:lnSpc>
                <a:spcPct val="150000"/>
              </a:lnSpc>
              <a:spcAft>
                <a:spcPts val="1200"/>
              </a:spcAft>
              <a:buFont typeface="Wingdings" pitchFamily="2" charset="2"/>
              <a:buChar char="ü"/>
            </a:pPr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 unit tests for all major features to ensure stability and maintainability</a:t>
            </a:r>
          </a:p>
          <a:p>
            <a:pPr marL="285750" indent="-285750" rtl="0" fontAlgn="base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FI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sz="1400" dirty="0"/>
          </a:p>
        </p:txBody>
      </p:sp>
    </p:spTree>
    <p:extLst>
      <p:ext uri="{BB962C8B-B14F-4D97-AF65-F5344CB8AC3E}">
        <p14:creationId xmlns:p14="http://schemas.microsoft.com/office/powerpoint/2010/main" val="229632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2C791-A127-7553-8AA4-B061F4840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CFFB0E-9F04-C22F-A6C2-B81F6597839C}"/>
              </a:ext>
            </a:extLst>
          </p:cNvPr>
          <p:cNvSpPr/>
          <p:nvPr/>
        </p:nvSpPr>
        <p:spPr>
          <a:xfrm>
            <a:off x="0" y="212296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50783-F178-4F7C-E0D4-4FBE377CC0FE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F96BC-56EC-0877-0349-1996F67B7F67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1CD698-EED0-6313-CCB8-D9CC0B2385A1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Flash - Online Flashcard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123D70-1BFC-E46B-E5CB-6BDAD0729997}"/>
              </a:ext>
            </a:extLst>
          </p:cNvPr>
          <p:cNvSpPr txBox="1"/>
          <p:nvPr/>
        </p:nvSpPr>
        <p:spPr>
          <a:xfrm>
            <a:off x="1263112" y="73796"/>
            <a:ext cx="9965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3 – Timeline and total working hours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13CFA-2234-11B5-EF2A-4045A32FDCC6}"/>
              </a:ext>
            </a:extLst>
          </p:cNvPr>
          <p:cNvSpPr txBox="1"/>
          <p:nvPr/>
        </p:nvSpPr>
        <p:spPr>
          <a:xfrm>
            <a:off x="5314209" y="4691801"/>
            <a:ext cx="2576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Total working hours: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54897-015E-9288-C0F0-844C3F27D66C}"/>
              </a:ext>
            </a:extLst>
          </p:cNvPr>
          <p:cNvSpPr txBox="1"/>
          <p:nvPr/>
        </p:nvSpPr>
        <p:spPr>
          <a:xfrm>
            <a:off x="5314210" y="5019812"/>
            <a:ext cx="33626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Nhi Dinh: ? hours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CBE20-7B98-C95B-A282-3BDD2EE67038}"/>
              </a:ext>
            </a:extLst>
          </p:cNvPr>
          <p:cNvSpPr txBox="1"/>
          <p:nvPr/>
        </p:nvSpPr>
        <p:spPr>
          <a:xfrm>
            <a:off x="5314210" y="5401553"/>
            <a:ext cx="33626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Tu Dinh: ? hours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FD02F-6066-C39F-2EBE-7E7DE9008976}"/>
              </a:ext>
            </a:extLst>
          </p:cNvPr>
          <p:cNvSpPr txBox="1"/>
          <p:nvPr/>
        </p:nvSpPr>
        <p:spPr>
          <a:xfrm>
            <a:off x="5314210" y="5809650"/>
            <a:ext cx="33626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Kim Tran: 48 hours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8B7E69-C91A-A3E5-58A4-BED5174E1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25940"/>
              </p:ext>
            </p:extLst>
          </p:nvPr>
        </p:nvGraphicFramePr>
        <p:xfrm>
          <a:off x="2444451" y="1702080"/>
          <a:ext cx="7971692" cy="2938465"/>
        </p:xfrm>
        <a:graphic>
          <a:graphicData uri="http://schemas.openxmlformats.org/drawingml/2006/table">
            <a:tbl>
              <a:tblPr/>
              <a:tblGrid>
                <a:gridCol w="3985846">
                  <a:extLst>
                    <a:ext uri="{9D8B030D-6E8A-4147-A177-3AD203B41FA5}">
                      <a16:colId xmlns:a16="http://schemas.microsoft.com/office/drawing/2014/main" val="630645598"/>
                    </a:ext>
                  </a:extLst>
                </a:gridCol>
                <a:gridCol w="3985846">
                  <a:extLst>
                    <a:ext uri="{9D8B030D-6E8A-4147-A177-3AD203B41FA5}">
                      <a16:colId xmlns:a16="http://schemas.microsoft.com/office/drawing/2014/main" val="2482708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5035" indent="-228600">
                        <a:lnSpc>
                          <a:spcPct val="150000"/>
                        </a:lnSpc>
                        <a:spcBef>
                          <a:spcPts val="540"/>
                        </a:spcBef>
                      </a:pP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Time</a:t>
                      </a:r>
                      <a:r>
                        <a:rPr lang="en-US" sz="1100" b="1" spc="-3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and</a:t>
                      </a:r>
                      <a:r>
                        <a:rPr lang="en-US" sz="1100" b="1" spc="-2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spc="-1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event</a:t>
                      </a:r>
                      <a:endParaRPr lang="en-FI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6890" indent="-228600" algn="ctr">
                        <a:lnSpc>
                          <a:spcPct val="150000"/>
                        </a:lnSpc>
                        <a:spcBef>
                          <a:spcPts val="540"/>
                        </a:spcBef>
                      </a:pPr>
                      <a:r>
                        <a:rPr lang="en-US" sz="1100" b="1" spc="-1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Description</a:t>
                      </a:r>
                      <a:endParaRPr lang="en-FI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074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9690" indent="-228600">
                        <a:lnSpc>
                          <a:spcPct val="150000"/>
                        </a:lnSpc>
                        <a:spcBef>
                          <a:spcPts val="530"/>
                        </a:spcBef>
                      </a:pPr>
                      <a:r>
                        <a:rPr lang="en-US" sz="1100" b="1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11.2.2025</a:t>
                      </a:r>
                      <a:r>
                        <a:rPr lang="en-US" sz="1100" b="1" spc="-3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-</a:t>
                      </a:r>
                      <a:r>
                        <a:rPr lang="en-US" sz="1100" b="1" spc="-3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Sprint</a:t>
                      </a:r>
                      <a:r>
                        <a:rPr lang="en-US" sz="1100" b="1" spc="-25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spc="-1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Kickoff</a:t>
                      </a:r>
                      <a:endParaRPr lang="en-FI" sz="11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Bef>
                          <a:spcPts val="530"/>
                        </a:spcBef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Summarize</a:t>
                      </a:r>
                      <a:r>
                        <a:rPr lang="en-US" sz="1100" spc="-35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results</a:t>
                      </a:r>
                      <a:r>
                        <a:rPr lang="en-US" sz="1100" spc="-3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from</a:t>
                      </a:r>
                      <a:r>
                        <a:rPr lang="en-US" sz="1100" spc="-35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Sprint</a:t>
                      </a:r>
                      <a:r>
                        <a:rPr lang="en-US" sz="1100" spc="-3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2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342900" marR="308610" lvl="0" indent="-342900">
                        <a:lnSpc>
                          <a:spcPct val="150000"/>
                        </a:lnSpc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Clarify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sprint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3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requirements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37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9690" indent="-228600">
                        <a:lnSpc>
                          <a:spcPct val="150000"/>
                        </a:lnSpc>
                        <a:spcBef>
                          <a:spcPts val="580"/>
                        </a:spcBef>
                      </a:pP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24.02.2025</a:t>
                      </a:r>
                      <a:r>
                        <a:rPr lang="en-US" sz="1100" b="1" spc="-2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-</a:t>
                      </a:r>
                      <a:r>
                        <a:rPr lang="en-US" sz="1100" b="1" spc="-2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Mid</a:t>
                      </a:r>
                      <a:r>
                        <a:rPr lang="en-US" sz="1100" b="1" spc="-2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Sprint</a:t>
                      </a:r>
                      <a:r>
                        <a:rPr lang="en-US" sz="1100" b="1" spc="-2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spc="-1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Review</a:t>
                      </a:r>
                      <a:endParaRPr lang="en-FI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230505" lvl="0" indent="-342900">
                        <a:lnSpc>
                          <a:spcPct val="150000"/>
                        </a:lnSpc>
                        <a:spcBef>
                          <a:spcPts val="580"/>
                        </a:spcBef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Present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progress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conduct code review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342900" marR="245745" lvl="0" indent="-342900">
                        <a:lnSpc>
                          <a:spcPct val="150000"/>
                        </a:lnSpc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Gather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feedbacks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from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peers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and resolve challenges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45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9690" indent="-228600">
                        <a:lnSpc>
                          <a:spcPct val="150000"/>
                        </a:lnSpc>
                        <a:spcBef>
                          <a:spcPts val="565"/>
                        </a:spcBef>
                      </a:pP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02.03.2025</a:t>
                      </a:r>
                      <a:r>
                        <a:rPr lang="en-US" sz="1100" b="1" spc="-5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-</a:t>
                      </a:r>
                      <a:r>
                        <a:rPr lang="en-US" sz="1100" b="1" spc="-5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Tasks</a:t>
                      </a:r>
                      <a:r>
                        <a:rPr lang="en-US" sz="1100" b="1" spc="-5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completion</a:t>
                      </a:r>
                      <a:r>
                        <a:rPr lang="en-US" sz="1100" b="1" spc="-5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spc="-1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deadline</a:t>
                      </a:r>
                      <a:endParaRPr lang="en-FI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Bef>
                          <a:spcPts val="565"/>
                        </a:spcBef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Complete</a:t>
                      </a:r>
                      <a:r>
                        <a:rPr lang="en-US" sz="1100" spc="-35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the</a:t>
                      </a:r>
                      <a:r>
                        <a:rPr lang="en-US" sz="1100" spc="-3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assigned</a:t>
                      </a:r>
                      <a:r>
                        <a:rPr lang="en-US" sz="1100" spc="-3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-1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tasks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Conduct</a:t>
                      </a:r>
                      <a:r>
                        <a:rPr lang="en-US" sz="1100" spc="-3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unit</a:t>
                      </a:r>
                      <a:r>
                        <a:rPr lang="en-US" sz="1100" spc="-25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-1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testing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10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9690" indent="-228600">
                        <a:lnSpc>
                          <a:spcPct val="150000"/>
                        </a:lnSpc>
                        <a:spcBef>
                          <a:spcPts val="565"/>
                        </a:spcBef>
                      </a:pP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03.03.2025</a:t>
                      </a:r>
                      <a:r>
                        <a:rPr lang="en-US" sz="1100" b="1" spc="-2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-</a:t>
                      </a:r>
                      <a:r>
                        <a:rPr lang="en-US" sz="1100" b="1" spc="-2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End</a:t>
                      </a:r>
                      <a:r>
                        <a:rPr lang="en-US" sz="1100" b="1" spc="-25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of</a:t>
                      </a:r>
                      <a:r>
                        <a:rPr lang="en-US" sz="1100" b="1" spc="-2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Sprint</a:t>
                      </a:r>
                      <a:r>
                        <a:rPr lang="en-US" sz="1100" b="1" spc="-2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b="1" spc="-10" dirty="0">
                          <a:effectLst/>
                          <a:latin typeface="Arial" panose="020B0604020202020204" pitchFamily="34" charset="0"/>
                          <a:ea typeface="Arial MT"/>
                          <a:cs typeface="Arial MT"/>
                        </a:rPr>
                        <a:t>Meeting</a:t>
                      </a:r>
                      <a:endParaRPr lang="en-FI" sz="11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50000"/>
                        </a:lnSpc>
                        <a:spcBef>
                          <a:spcPts val="500"/>
                        </a:spcBef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Conduct</a:t>
                      </a:r>
                      <a:r>
                        <a:rPr lang="en-US" sz="1100" spc="-3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second</a:t>
                      </a:r>
                      <a:r>
                        <a:rPr lang="en-US" sz="1100" spc="-3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code</a:t>
                      </a:r>
                      <a:r>
                        <a:rPr lang="en-US" sz="1100" spc="-25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-1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342900" marR="153035" lvl="0" indent="-342900">
                        <a:lnSpc>
                          <a:spcPct val="150000"/>
                        </a:lnSpc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Review</a:t>
                      </a:r>
                      <a:r>
                        <a:rPr lang="en-US" sz="1100" spc="-4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unit</a:t>
                      </a:r>
                      <a:r>
                        <a:rPr lang="en-US" sz="1100" spc="-4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test</a:t>
                      </a:r>
                      <a:r>
                        <a:rPr lang="en-US" sz="1100" spc="-4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results</a:t>
                      </a:r>
                      <a:r>
                        <a:rPr lang="en-US" sz="1100" spc="-4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and</a:t>
                      </a:r>
                      <a:r>
                        <a:rPr lang="en-US" sz="1100" spc="-4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ensure adequate test coverage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342900" marR="401320" lvl="0" indent="-342900">
                        <a:lnSpc>
                          <a:spcPct val="150000"/>
                        </a:lnSpc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Conduct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integration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tests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all </a:t>
                      </a:r>
                      <a:r>
                        <a:rPr lang="en-US" sz="1100" spc="-1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features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spcBef>
                          <a:spcPts val="565"/>
                        </a:spcBef>
                        <a:buSzPts val="1100"/>
                        <a:buFont typeface="Arial MT"/>
                        <a:buChar char="-"/>
                        <a:tabLst>
                          <a:tab pos="516890" algn="l"/>
                        </a:tabLst>
                      </a:pP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Prepare</a:t>
                      </a:r>
                      <a:r>
                        <a:rPr lang="en-US" sz="1100" spc="-3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for</a:t>
                      </a:r>
                      <a:r>
                        <a:rPr lang="en-US" sz="1100" spc="-25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sprint</a:t>
                      </a:r>
                      <a:r>
                        <a:rPr lang="en-US" sz="1100" spc="-25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 </a:t>
                      </a:r>
                      <a:r>
                        <a:rPr lang="en-US" sz="1100" spc="-50" dirty="0">
                          <a:effectLst/>
                          <a:latin typeface="Arial MT"/>
                          <a:ea typeface="Arial MT"/>
                          <a:cs typeface="Arial MT"/>
                        </a:rPr>
                        <a:t>4</a:t>
                      </a:r>
                      <a:endParaRPr lang="en-FI" sz="1100" spc="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169238"/>
                  </a:ext>
                </a:extLst>
              </a:tr>
            </a:tbl>
          </a:graphicData>
        </a:graphic>
      </p:graphicFrame>
      <p:sp>
        <p:nvSpPr>
          <p:cNvPr id="17" name="Rectangle 1">
            <a:extLst>
              <a:ext uri="{FF2B5EF4-FFF2-40B4-BE49-F238E27FC236}">
                <a16:creationId xmlns:a16="http://schemas.microsoft.com/office/drawing/2014/main" id="{0B3D4339-8E4F-4363-89DE-D865259ED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630" y="131227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FI" altLang="en-FI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75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8CF8F-C0D6-9A28-9FDA-536D023B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DBFA9-E737-8F19-FEA9-63744F05ECE4}"/>
              </a:ext>
            </a:extLst>
          </p:cNvPr>
          <p:cNvSpPr/>
          <p:nvPr/>
        </p:nvSpPr>
        <p:spPr>
          <a:xfrm>
            <a:off x="0" y="212296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FC23C-36F2-AD0E-79CC-7B1F5176AC06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C602B1-54D6-5111-DD66-A66E0A645182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60D8F9-C75F-8896-24B3-B22FEC0A78DD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Flash - Online Flashcard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587534-400D-6485-330D-F778C625E521}"/>
              </a:ext>
            </a:extLst>
          </p:cNvPr>
          <p:cNvSpPr txBox="1"/>
          <p:nvPr/>
        </p:nvSpPr>
        <p:spPr>
          <a:xfrm>
            <a:off x="2155371" y="73796"/>
            <a:ext cx="7565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3 –Test Coverage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A6227-7FF7-65EB-C007-3A899BE51593}"/>
              </a:ext>
            </a:extLst>
          </p:cNvPr>
          <p:cNvSpPr txBox="1"/>
          <p:nvPr/>
        </p:nvSpPr>
        <p:spPr>
          <a:xfrm>
            <a:off x="1507671" y="1297796"/>
            <a:ext cx="8860972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FI" b="1" dirty="0"/>
              <a:t>Test coverage result</a:t>
            </a:r>
            <a:r>
              <a:rPr lang="en-FI" dirty="0"/>
              <a:t>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FI" dirty="0"/>
              <a:t>Test cases: </a:t>
            </a:r>
            <a:r>
              <a:rPr lang="en-FI"/>
              <a:t>245 cases</a:t>
            </a:r>
            <a:endParaRPr lang="en-FI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75D3CC11-CA25-7ABA-1BB7-F78B4956A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670" y="2603228"/>
            <a:ext cx="10130903" cy="404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9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B24F-86AA-7AAC-94C2-B2E8AE64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C1BE4E3-338A-7893-8C52-19AAF65F7703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F60D8-A98E-E25E-3544-DB6F2E78C5F6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395CF-434D-A6E2-EA6B-B43A6D803FB2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0440B2-F012-76E0-9CF5-40F786301FD3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Flash - Online Flashcard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572BF3-1354-21C4-8665-CED4F03A49FA}"/>
              </a:ext>
            </a:extLst>
          </p:cNvPr>
          <p:cNvSpPr txBox="1"/>
          <p:nvPr/>
        </p:nvSpPr>
        <p:spPr>
          <a:xfrm>
            <a:off x="2177144" y="73796"/>
            <a:ext cx="7837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3 – Challenges and solutions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E6F28-5F03-74BE-2DDF-039638BC73EE}"/>
              </a:ext>
            </a:extLst>
          </p:cNvPr>
          <p:cNvSpPr txBox="1"/>
          <p:nvPr/>
        </p:nvSpPr>
        <p:spPr>
          <a:xfrm>
            <a:off x="884903" y="2131002"/>
            <a:ext cx="2841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3EFD93-EF79-939F-E2FE-ADA962B638D8}"/>
              </a:ext>
            </a:extLst>
          </p:cNvPr>
          <p:cNvSpPr txBox="1"/>
          <p:nvPr/>
        </p:nvSpPr>
        <p:spPr>
          <a:xfrm>
            <a:off x="884902" y="2592667"/>
            <a:ext cx="9780638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Underestimating task complexity and overlooking many sub tasks.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4F567-A6E2-1B5D-B78A-6A8A601FC751}"/>
              </a:ext>
            </a:extLst>
          </p:cNvPr>
          <p:cNvSpPr txBox="1"/>
          <p:nvPr/>
        </p:nvSpPr>
        <p:spPr>
          <a:xfrm>
            <a:off x="884902" y="3429000"/>
            <a:ext cx="2841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en-US" b="1" dirty="0"/>
              <a:t>: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549398-581D-0E1B-29DB-603E0F8765C2}"/>
              </a:ext>
            </a:extLst>
          </p:cNvPr>
          <p:cNvSpPr txBox="1"/>
          <p:nvPr/>
        </p:nvSpPr>
        <p:spPr>
          <a:xfrm>
            <a:off x="884902" y="3995553"/>
            <a:ext cx="103042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Identified the issue early and distributed sub-tasks to balance the workload.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935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D7C3-5396-CF4A-2882-298D3570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06079-8114-6FB5-95FF-1F483EE62448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2B1203-793F-4F96-2504-D44416F7A210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4B69C-6160-680A-E984-28EB2D010FF8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73E7C-78A1-FCF0-693A-AA85F0734AE4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Flash - Online Flashcard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CDB8F5-E868-AB39-A52C-B97CBD72E763}"/>
              </a:ext>
            </a:extLst>
          </p:cNvPr>
          <p:cNvSpPr txBox="1"/>
          <p:nvPr/>
        </p:nvSpPr>
        <p:spPr>
          <a:xfrm>
            <a:off x="2177144" y="73796"/>
            <a:ext cx="78377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3 – Overview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F060A-AEED-6E0E-9070-CDCE72A1A5E7}"/>
              </a:ext>
            </a:extLst>
          </p:cNvPr>
          <p:cNvSpPr txBox="1"/>
          <p:nvPr/>
        </p:nvSpPr>
        <p:spPr>
          <a:xfrm>
            <a:off x="1467209" y="2004877"/>
            <a:ext cx="9446766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 tasks completed within the planned timeline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ntegration testing to ensure the app ran smoothly and without errors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AI tool </a:t>
            </a:r>
          </a:p>
        </p:txBody>
      </p:sp>
    </p:spTree>
    <p:extLst>
      <p:ext uri="{BB962C8B-B14F-4D97-AF65-F5344CB8AC3E}">
        <p14:creationId xmlns:p14="http://schemas.microsoft.com/office/powerpoint/2010/main" val="425009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9157-CE66-B329-8D4A-C17260B4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8A095A-EE1F-D974-25EB-983756D5CFCC}"/>
              </a:ext>
            </a:extLst>
          </p:cNvPr>
          <p:cNvSpPr/>
          <p:nvPr/>
        </p:nvSpPr>
        <p:spPr>
          <a:xfrm>
            <a:off x="0" y="212296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765F0-F30C-53CB-AD71-BF8F693D0282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853A0-E656-9080-9C05-A7AD4D4B275B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2625E-3423-E225-C69D-9A2A55B2D0A3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Flash - Online Flashcard System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6ACF3-74C5-4346-0B65-22A1E13AD0E1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4 -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77D54-DAFD-99F1-03C0-E8AE79BB808B}"/>
              </a:ext>
            </a:extLst>
          </p:cNvPr>
          <p:cNvSpPr txBox="1"/>
          <p:nvPr/>
        </p:nvSpPr>
        <p:spPr>
          <a:xfrm>
            <a:off x="1461477" y="1992923"/>
            <a:ext cx="935366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App deployment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- Nhi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Implement progress tracking for Student and Teacher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-Kim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Implement User Manual and Technical Document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- Tu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Timeline: 03/03-10/03 (7 days)</a:t>
            </a:r>
            <a:endParaRPr lang="en-FI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01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76B0-73AE-7809-D2E3-E5236C9C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59A5F3-C260-4F17-AE5E-76D4E318DF69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39E6C5-1EB3-9408-FDA9-07AFFB4FBB89}"/>
              </a:ext>
            </a:extLst>
          </p:cNvPr>
          <p:cNvSpPr txBox="1"/>
          <p:nvPr/>
        </p:nvSpPr>
        <p:spPr>
          <a:xfrm>
            <a:off x="0" y="62059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9C6E0-E278-B141-9575-6DE0A59C48C1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pic>
        <p:nvPicPr>
          <p:cNvPr id="6" name="Picture 5" descr="A group of people reading books&#10;&#10;AI-generated content may be incorrect.">
            <a:extLst>
              <a:ext uri="{FF2B5EF4-FFF2-40B4-BE49-F238E27FC236}">
                <a16:creationId xmlns:a16="http://schemas.microsoft.com/office/drawing/2014/main" id="{E785B4B8-D793-B406-7D43-F36527154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3400"/>
            <a:ext cx="12192000" cy="792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2C2429-EB9A-A252-0816-6FC1AC669D92}"/>
              </a:ext>
            </a:extLst>
          </p:cNvPr>
          <p:cNvSpPr txBox="1"/>
          <p:nvPr/>
        </p:nvSpPr>
        <p:spPr>
          <a:xfrm>
            <a:off x="3048000" y="2731008"/>
            <a:ext cx="58643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200" b="1" dirty="0">
                <a:latin typeface="Arial" panose="020B0604020202020204" pitchFamily="34" charset="0"/>
                <a:cs typeface="Arial" panose="020B0604020202020204" pitchFamily="34" charset="0"/>
              </a:rPr>
              <a:t>Thank you for listening to our team!</a:t>
            </a:r>
          </a:p>
        </p:txBody>
      </p:sp>
    </p:spTree>
    <p:extLst>
      <p:ext uri="{BB962C8B-B14F-4D97-AF65-F5344CB8AC3E}">
        <p14:creationId xmlns:p14="http://schemas.microsoft.com/office/powerpoint/2010/main" val="407435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485</Words>
  <Application>Microsoft Macintosh PowerPoint</Application>
  <PresentationFormat>Widescreen</PresentationFormat>
  <Paragraphs>78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Arial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Nhi Dinh</dc:creator>
  <cp:lastModifiedBy>Kim Tran-Do</cp:lastModifiedBy>
  <cp:revision>25</cp:revision>
  <dcterms:created xsi:type="dcterms:W3CDTF">2025-01-28T13:34:54Z</dcterms:created>
  <dcterms:modified xsi:type="dcterms:W3CDTF">2025-03-04T14:03:18Z</dcterms:modified>
</cp:coreProperties>
</file>